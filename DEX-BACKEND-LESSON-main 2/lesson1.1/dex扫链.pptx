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ctr">
              <a:lnSpc>
                <a:spcPct val="91666"/>
              </a:lnSpc>
              <a:defRPr sz="45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ctr">
              <a:lnSpc>
                <a:spcPct val="91666"/>
              </a:lnSpc>
              <a:defRPr sz="1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 marL="9525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单击此处添加副标题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6" id="6"/>
          <p:cNvSpPr/>
          <p:nvPr>
            <p:ph idx="10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1397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6" id="6"/>
          <p:cNvSpPr/>
          <p:nvPr>
            <p:ph idx="15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45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4" id="4"/>
          <p:cNvSpPr/>
          <p:nvPr>
            <p:ph idx="18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6" id="6"/>
          <p:cNvSpPr/>
          <p:nvPr>
            <p:ph idx="20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1397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1397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7" id="7"/>
          <p:cNvSpPr/>
          <p:nvPr>
            <p:ph idx="26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228600">
              <a:lnSpc>
                <a:spcPct val="91666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1397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228600">
              <a:lnSpc>
                <a:spcPct val="91666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1397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7" id="7"/>
          <p:cNvSpPr/>
          <p:nvPr>
            <p:ph idx="32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36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5" id="5"/>
          <p:cNvSpPr/>
          <p:nvPr>
            <p:ph idx="38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4" id="4"/>
          <p:cNvSpPr/>
          <p:nvPr>
            <p:ph idx="41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body" sz="quarter" hasCustomPrompt="true"/>
          </p:nvPr>
        </p:nvSpPr>
        <p:spPr>
          <a:xfrm rot="0" flipH="false" flipV="false"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762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49" type="pic" sz="quarter"/>
          </p:nvPr>
        </p:nvSpPr>
        <p:spPr>
          <a:xfrm rot="0" flipH="false" flipV="false"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5400000" flipH="false" flipV="false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1397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5400000" flipH="false" flipV="false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5400000" flipH="false" flipV="false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 marL="1397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name="AutoShape 5" id="5"/>
          <p:cNvSpPr/>
          <p:nvPr>
            <p:ph idx="62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name="AutoShape 6" id="6"/>
          <p:cNvSpPr/>
          <p:nvPr>
            <p:ph idx="63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12" Target="../slideLayouts/slideLayout22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2" Target="../slideLayouts/slideLayout23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​​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  <p:sldLayoutId id="215748370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1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-1270000"/>
            <a:ext cx="6350000" cy="6350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270000" y="3810000"/>
            <a:ext cx="5080000" cy="5080000"/>
          </a:xfrm>
          <a:prstGeom prst="ellipse">
            <a:avLst/>
          </a:prstGeom>
          <a:solidFill>
            <a:srgbClr val="8B5CF6">
              <a:alpha val="5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579" flipH="false" flipV="false">
            <a:off x="-632" y="1517650"/>
            <a:ext cx="12192000" cy="12700"/>
          </a:xfrm>
          <a:prstGeom prst="straightConnector1">
            <a:avLst/>
          </a:prstGeom>
          <a:solidFill>
            <a:srgbClr val="DEE0E3">
              <a:alpha val="20000"/>
            </a:srgbClr>
          </a:solidFill>
          <a:ln w="12700" cmpd="sng" cap="flat">
            <a:solidFill>
              <a:srgbClr val="06B6D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3579" flipH="false" flipV="false">
            <a:off x="-632" y="5327650"/>
            <a:ext cx="12192000" cy="12700"/>
          </a:xfrm>
          <a:prstGeom prst="straightConnector1">
            <a:avLst/>
          </a:prstGeom>
          <a:solidFill>
            <a:srgbClr val="DEE0E3">
              <a:alpha val="2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80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DEX 事件扫描器课件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810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深入解析 DEX 区块链事件扫描器的架构设计与实现细节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588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Presented by:</a:t>
            </a:r>
            <a:r>
              <a:rPr lang="en-US" b="false" i="false" strike="noStrike" u="none" sz="18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  Zood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0" y="5588000"/>
            <a:ext cx="76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06B6D4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F2329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🔗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课程目录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1369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2286000" cy="355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127000" rIns="127000" tIns="254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06B6D4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整体架构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系统组件与数据流向概览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02000" y="1905000"/>
            <a:ext cx="2286000" cy="355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127000" rIns="127000" tIns="254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8B5CF6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合约事件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PoolCreated, Mint, Burn, Swap, Transfer 详解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0" y="1905000"/>
            <a:ext cx="2286000" cy="355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127000" rIns="127000" tIns="254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EC4899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Scanner 核心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签名计算、过滤策略与扫描循环实现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0" y="1905000"/>
            <a:ext cx="3048000" cy="1651000"/>
          </a:xfrm>
          <a:prstGeom prst="roundRect">
            <a:avLst>
              <a:gd name="adj" fmla="val 6152"/>
            </a:avLst>
          </a:prstGeom>
          <a:solidFill>
            <a:srgbClr val="1F293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25400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6B6D4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r>
              <a:rPr lang="en-US" b="false" i="false" strike="noStrike" u="none" sz="20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事件处理流程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从解析到落库的端到端逻辑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382000" y="3810000"/>
            <a:ext cx="3048000" cy="1651000"/>
          </a:xfrm>
          <a:prstGeom prst="roundRect">
            <a:avLst>
              <a:gd name="adj" fmla="val 6152"/>
            </a:avLst>
          </a:prstGeom>
          <a:solidFill>
            <a:srgbClr val="1F293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25400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8B5CF6"/>
                </a:solidFill>
                <a:latin typeface="Bebas Neue"/>
                <a:ea typeface="Bebas Neue"/>
                <a:cs typeface="Bebas Neue"/>
                <a:sym typeface="Bebas Neue"/>
              </a:rPr>
              <a:t>05</a:t>
            </a:r>
            <a:r>
              <a:rPr lang="en-US" b="false" i="false" strike="noStrike" u="none" sz="20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数据库与表结构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Schema 设计与索引优化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整体架构与数据流概览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先从系统视角建立全局心智模型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2794000" cy="2540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254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Ethereum Node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(RPC 节点 / Infura)</a:t>
            </a:r>
          </a:p>
        </p:txBody>
      </p:sp>
      <p:cxnSp>
        <p:nvCxnSpPr>
          <p:cNvPr name="Connector 6" id="6"/>
          <p:cNvCxnSpPr/>
          <p:nvPr/>
        </p:nvCxnSpPr>
        <p:spPr>
          <a:xfrm rot="-38195" flipH="false" flipV="false">
            <a:off x="3555400" y="38036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556000" y="33020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FilterLogs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0" y="2540000"/>
            <a:ext cx="2794000" cy="2540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254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⚙️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Scanner Service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(Go</a:t>
            </a: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l</a:t>
            </a: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ang)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事件监听 • 数据解析</a:t>
            </a:r>
          </a:p>
        </p:txBody>
      </p:sp>
      <p:cxnSp>
        <p:nvCxnSpPr>
          <p:cNvPr name="Connector 9" id="9"/>
          <p:cNvCxnSpPr/>
          <p:nvPr/>
        </p:nvCxnSpPr>
        <p:spPr>
          <a:xfrm rot="-38195" flipH="false" flipV="false">
            <a:off x="7492400" y="38036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493000" y="33020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5CF6"/>
                </a:solidFill>
                <a:latin typeface="Roboto Mono"/>
                <a:ea typeface="Roboto Mono"/>
                <a:cs typeface="Roboto Mono"/>
                <a:sym typeface="Roboto Mono"/>
              </a:rPr>
              <a:t>SQL Sync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36000" y="2540000"/>
            <a:ext cx="2794000" cy="2540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254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🗄️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PostgreSQL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(Database)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Tokens • Pools • Events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588000"/>
            <a:ext cx="10668000" cy="1016000"/>
          </a:xfrm>
          <a:prstGeom prst="roundRect">
            <a:avLst>
              <a:gd name="adj" fmla="val 5000"/>
            </a:avLst>
          </a:prstGeom>
          <a:solidFill>
            <a:srgbClr val="06B6D4">
              <a:alpha val="10000"/>
            </a:srgbClr>
          </a:solidFill>
          <a:ln w="12700" cmpd="sng" cap="flat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254000" rIns="25400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核心目标：</a:t>
            </a: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通过 Go 服务连接以太坊 RPC，实时监听 FilterLogs 事件流，解析后同步至 PostgreSQL。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这一架构确保了链上数据（如 Pools, Swaps）能被高效地转换为结构化数据，供后续复杂的查询与分析使用。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核心合约与事件来源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在架构之上，明确关键合约的职责边界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3076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🏭 Factory / Manager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职责：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负责创建和管理交易对池子。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关键事件：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06B6D4"/>
              </a:buClr>
              <a:buChar char="•"/>
            </a:pPr>
            <a:r>
              <a:rPr lang="en-US" b="false" i="false" strike="noStrike" u="none" sz="1300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PoolCreated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标识新池子的诞生，包含 token0/1 和费率信息。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3076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8B5CF6"/>
                </a:solidFill>
                <a:latin typeface="Oswald"/>
                <a:ea typeface="Oswald"/>
                <a:cs typeface="Oswald"/>
                <a:sym typeface="Oswald"/>
              </a:rPr>
              <a:t>💧 Pool Contract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职责：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处理具体的流动性操作与代币交换。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关键事件：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8B5CF6"/>
              </a:buClr>
              <a:buChar char="•"/>
            </a:pPr>
            <a:r>
              <a:rPr lang="en-US" b="false" i="false" strike="noStrike" u="none" sz="1300">
                <a:solidFill>
                  <a:srgbClr val="8B5CF6"/>
                </a:solidFill>
                <a:latin typeface="Roboto Mono"/>
                <a:ea typeface="Roboto Mono"/>
                <a:cs typeface="Roboto Mono"/>
                <a:sym typeface="Roboto Mono"/>
              </a:rPr>
              <a:t>Mint / Burn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流动性的增加与移除。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8B5CF6"/>
              </a:buClr>
              <a:buChar char="•"/>
            </a:pPr>
            <a:r>
              <a:rPr lang="en-US" b="false" i="false" strike="noStrike" u="none" sz="1300">
                <a:solidFill>
                  <a:srgbClr val="8B5CF6"/>
                </a:solidFill>
                <a:latin typeface="Roboto Mono"/>
                <a:ea typeface="Roboto Mono"/>
                <a:cs typeface="Roboto Mono"/>
                <a:sym typeface="Roboto Mono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代币交换，驱动价格变化。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3076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🎫 Position Manager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职责：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管理 NFT 形式的流动性头寸 (ERC721)。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关键事件：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EC4899"/>
              </a:buClr>
              <a:buChar char="•"/>
            </a:pPr>
            <a:r>
              <a:rPr lang="en-US" b="false" i="false" strike="noStrike" u="none" sz="1300">
                <a:solidFill>
                  <a:srgbClr val="EC4899"/>
                </a:solidFill>
                <a:latin typeface="Roboto Mono"/>
                <a:ea typeface="Roboto Mono"/>
                <a:cs typeface="Roboto Mono"/>
                <a:sym typeface="Roboto Mono"/>
              </a:rPr>
              <a:t>Transfer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记录头寸所有权的转移，关联 TokenID 与 Owner。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事件详解：PoolCreated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从发现新池子到数据库初始化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080000" cy="4318000"/>
          </a:xfrm>
          <a:prstGeom prst="roundRect">
            <a:avLst>
              <a:gd name="adj" fmla="val 2351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📦 数据布局 (Data Field)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该事件所有参数均为非索引，紧凑排列于 data 字段：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[000-032] token0 (addr)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[032-064] token1 (addr)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[064-096] index (uint32)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[096-128] tickLower (int24)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[128-160] tickUpper (int24)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[160-192] fee (uint24)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F3F4F6"/>
                </a:solidFill>
                <a:latin typeface="Roboto Mono"/>
                <a:ea typeface="Roboto Mono"/>
                <a:cs typeface="Roboto Mono"/>
                <a:sym typeface="Roboto Mono"/>
              </a:rPr>
              <a:t>[192-224] pool (addr)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1905000"/>
            <a:ext cx="5080000" cy="431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1. 签名匹配与过滤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使用 Topics[0] 进行哈希匹配，确保只捕获 Factory 合约发出的真实创建事件。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2. 级联写入与外键约束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解析后，必须先确保</a:t>
            </a:r>
            <a:r>
              <a:rPr lang="en-US" b="false" i="false" strike="noStrike" u="none" sz="1400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tokens</a:t>
            </a: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表中存在 token0/token1 记录（若无则插入占位符），再写入</a:t>
            </a:r>
            <a:r>
              <a:rPr lang="en-US" b="false" i="false" strike="noStrike" u="none" sz="1400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pools</a:t>
            </a: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表，满足数据库外键约束。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3. 缓存热更新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新池子地址立即加入内存缓存（Set），确保后续该块内的 Swap/Mint 事件能被 Scanner 识别并处理。</a:t>
            </a:r>
          </a:p>
        </p:txBody>
      </p:sp>
      <p:cxnSp>
        <p:nvCxnSpPr>
          <p:cNvPr name="Connector 7" id="7"/>
          <p:cNvCxnSpPr/>
          <p:nvPr/>
        </p:nvCxnSpPr>
        <p:spPr>
          <a:xfrm rot="-171743" flipH="false" flipV="false">
            <a:off x="5968524" y="3168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事件详解：Mint 与 Ticks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处理流动性增加的核心逻辑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25400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8B5CF6"/>
                </a:solidFill>
                <a:latin typeface="Oswald"/>
                <a:ea typeface="Oswald"/>
                <a:cs typeface="Oswald"/>
                <a:sym typeface="Oswald"/>
              </a:rPr>
              <a:t>📥 Mint Event Structure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Topics[1]: owner (indexed)</a:t>
            </a:r>
            <a:r>
              <a:rPr lang="en-US" b="false" i="false" strike="noStrike" u="none" sz="14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|</a:t>
            </a:r>
            <a:r>
              <a:rPr lang="en-US" b="false" i="false" strike="noStrike" u="none" sz="14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Data: sender, amount(L), amount0, amount1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556000"/>
            <a:ext cx="330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1. 记录与累加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插入详细的</a:t>
            </a:r>
            <a:r>
              <a:rPr lang="en-US" b="false" i="false" strike="noStrike" u="none" sz="1400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liquidity_events</a:t>
            </a: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流水记录。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同时执行 SQL 更新，累加</a:t>
            </a:r>
            <a:r>
              <a:rPr lang="en-US" b="false" i="false" strike="noStrike" u="none" sz="1400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pools.liquidity</a:t>
            </a: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总量，避免频繁 RPC 查询。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3556000"/>
            <a:ext cx="330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2. Ticks 状态维护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更新价格区间边界：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Lower: LiquidityNet +amount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Upper: LiquidityNet -amount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确保价格穿越时流动性计算正确。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3556000"/>
            <a:ext cx="330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3. Position ID 关联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优先尝试从同笔交易的 Transfer 事件获取 NFT TokenID。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若缺失（如直接调用 Mint），则使用 Hash(owner, pool, ticks) 生成确定性 ID。</a:t>
            </a:r>
          </a:p>
        </p:txBody>
      </p:sp>
      <p:cxnSp>
        <p:nvCxnSpPr>
          <p:cNvPr name="Connector 9" id="9"/>
          <p:cNvCxnSpPr/>
          <p:nvPr/>
        </p:nvCxnSpPr>
        <p:spPr>
          <a:xfrm rot="-114549" flipH="false" flipV="false">
            <a:off x="4063471" y="4438650"/>
            <a:ext cx="381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6B72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name="Connector 10" id="10"/>
          <p:cNvCxnSpPr/>
          <p:nvPr/>
        </p:nvCxnSpPr>
        <p:spPr>
          <a:xfrm rot="-114549" flipH="false" flipV="false">
            <a:off x="7746471" y="4438650"/>
            <a:ext cx="381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6B72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事件详解：Burn 与一致性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C4899"/>
                </a:solidFill>
                <a:latin typeface="Montserrat"/>
                <a:ea typeface="Montserrat"/>
                <a:cs typeface="Montserrat"/>
                <a:sym typeface="Montserrat"/>
              </a:rPr>
              <a:t>增减对称与数据一致性维护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080000" cy="3810000"/>
          </a:xfrm>
          <a:prstGeom prst="roundRect">
            <a:avLst>
              <a:gd name="adj" fmla="val 2666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🔥 Burn Event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Topics[1]: owner (indexed)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Data: amount, amount0, amount1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反向操作逻辑：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Pool Liquidity: 减去 amount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Tick Lower Net: 减去 amount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Tick Upper Net: 加上 amount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2032000"/>
            <a:ext cx="5080000" cy="3810000"/>
          </a:xfrm>
          <a:prstGeom prst="roundRect">
            <a:avLst>
              <a:gd name="adj" fmla="val 2666"/>
            </a:avLst>
          </a:prstGeom>
          <a:solidFill>
            <a:srgbClr val="EC4899">
              <a:alpha val="1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dash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🛡️ 一致性保障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数据库 Upsert 策略：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使用</a:t>
            </a:r>
            <a:r>
              <a:rPr lang="en-US" b="false" i="false" strike="noStrike" u="none" sz="14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ON CONFLICT DO UPDATE</a:t>
            </a: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确保幂等性。无论重放多少次，最终状态一致。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完整性校验：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Burn 必须针对已存在的 Position。若 Position 归零，则流动性标记为 0 而非物理删除，保留历史痕迹。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事件详解：Swap 与价格同步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524000"/>
          </a:xfrm>
          <a:prstGeom prst="roundRect">
            <a:avLst>
              <a:gd name="adj" fmla="val 6665"/>
            </a:avLst>
          </a:prstGeom>
          <a:solidFill>
            <a:srgbClr val="1F2937">
              <a:alpha val="100000"/>
            </a:srgbClr>
          </a:solidFill>
          <a:ln w="254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381000" rIns="38100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🔢 有符号数解析 (int256)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Swap 事件中的</a:t>
            </a:r>
            <a:r>
              <a:rPr lang="en-US" b="false" i="false" strike="noStrike" u="none" sz="14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amount0/amount1</a:t>
            </a: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是有符号数。EVM 使用补码表示负数。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解析逻辑：若数值</a:t>
            </a:r>
            <a:r>
              <a:rPr lang="en-US" b="false" i="false" strike="noStrike" u="none" sz="14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≥ 2^255</a:t>
            </a: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，则该数为负，需减去</a:t>
            </a:r>
            <a:r>
              <a:rPr lang="en-US" b="false" i="false" strike="noStrike" u="none" sz="14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2^256</a:t>
            </a: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还原真实负值。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556000"/>
            <a:ext cx="508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1. 关键字段解析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Data 包含核心状态更新：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sqrtPriceX96</a:t>
            </a: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: 交易后的新价格根号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liquidity</a:t>
            </a: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: 交易后的活跃流动性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tick</a:t>
            </a: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: 交易后的当前 Tick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3556000"/>
            <a:ext cx="508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2. 状态实时同步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每次 Swap 都是一次状态快照：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更新 Pools 表：</a:t>
            </a: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将 Price, Liquidity, Tick 更新为最新值，确保前端查询到实时价格。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插入 Swaps 表：</a:t>
            </a: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记录 Sender, Recipient 及正负金额，构建 K 线图数据源。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事件详解：Position Transfer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8B5CF6"/>
                </a:solidFill>
                <a:latin typeface="Oswald"/>
                <a:ea typeface="Oswald"/>
                <a:cs typeface="Oswald"/>
                <a:sym typeface="Oswald"/>
              </a:rPr>
              <a:t>ERC721 Transfer Event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from (indexed) ➔ to (indexed) | tokenId (indexed)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556000"/>
            <a:ext cx="3302000" cy="228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0" rIns="0" tIns="254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🌱 Mint (Creation)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from == 0x0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关联 Pool Mint 事件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获取 TokenID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初始化 Position 记录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3556000"/>
            <a:ext cx="3302000" cy="228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0" rIns="0" tIns="254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🔥 Burn (Deletion)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to == 0x0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关联 Pool Burn 事件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更新 Position 状态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(非物理删除)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0" y="3556000"/>
            <a:ext cx="3302000" cy="228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0" rIns="0" tIns="254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59E0B"/>
                </a:solidFill>
                <a:latin typeface="Oswald"/>
                <a:ea typeface="Oswald"/>
                <a:cs typeface="Oswald"/>
                <a:sym typeface="Oswald"/>
              </a:rPr>
              <a:t>🔄 Transfer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Both != 0x0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仅更新 Owner 字段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头寸 ID 保持不变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流动性归属变更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Scanner 核心实现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556000" cy="4572000"/>
          </a:xfrm>
          <a:prstGeom prst="roundRect">
            <a:avLst>
              <a:gd name="adj" fmla="val 2856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1. 签名计算 (Keccak256)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EVM 事件 ID 是函数签名的哈希。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Sig = Keccak256(b"EventName(type1,type2)")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严格要求参数类型与顺序一致。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Mint(address,address,uint128,uint256,uint256)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72000" y="1651000"/>
            <a:ext cx="3556000" cy="4572000"/>
          </a:xfrm>
          <a:prstGeom prst="roundRect">
            <a:avLst>
              <a:gd name="adj" fmla="val 2856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8B5CF6"/>
                </a:solidFill>
                <a:latin typeface="Oswald"/>
                <a:ea typeface="Oswald"/>
                <a:cs typeface="Oswald"/>
                <a:sym typeface="Oswald"/>
              </a:rPr>
              <a:t>2. 高效过滤 (Bloom)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利用 Topics[0] 进行首层筛选。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Query.Topics = [[Sig1, Sig2, Sig3]]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RPC 节点利用 Bloom Filter 快速检索，避免全量扫描。应用层再根据 Address 进行二次过滤。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382000" y="1651000"/>
            <a:ext cx="3048000" cy="4572000"/>
          </a:xfrm>
          <a:prstGeom prst="roundRect">
            <a:avLst>
              <a:gd name="adj" fmla="val 3332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2540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3. 稳健循环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F3F4F6"/>
              </a:buClr>
              <a:buChar char="•"/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分段扫描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每次 1000 块，防止超时。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3F4F6"/>
              </a:buClr>
              <a:buChar char="•"/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断点续传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重启时从 DB 最大块号 +1 开始。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3F4F6"/>
              </a:buClr>
              <a:buChar char="•"/>
            </a:pPr>
            <a:r>
              <a:rPr lang="en-US" b="tru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Ticker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定时轮询新区块。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端到端数据流示例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场景</a:t>
            </a:r>
            <a:r>
              <a:rPr lang="en-US" b="false" i="false" strike="noStrike" u="none" sz="24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 A: </a:t>
            </a:r>
            <a:r>
              <a:rPr lang="en-US" b="false" i="false" strike="noStrike" u="none" sz="24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用户添加流动性</a:t>
            </a:r>
            <a:r>
              <a:rPr lang="en-US" b="false" i="false" strike="noStrike" u="none" sz="24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(Mint)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1369" y="215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74151">
                <a:alpha val="100000"/>
              </a:srgbClr>
            </a:solidFill>
            <a:prstDash val="dash"/>
            <a:round/>
            <a:headEnd type="none" w="lg" len="lg"/>
            <a:tailEnd type="arrow" w="sm" len="sm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241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Pool.Mint()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Emit Mint + Transfer</a:t>
            </a:r>
          </a:p>
        </p:txBody>
      </p:sp>
      <p:cxnSp>
        <p:nvCxnSpPr>
          <p:cNvPr name="Connector 7" id="7"/>
          <p:cNvCxnSpPr/>
          <p:nvPr/>
        </p:nvCxnSpPr>
        <p:spPr>
          <a:xfrm rot="-68745" flipH="false" flipV="false">
            <a:off x="3428428" y="3041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4191000" y="241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⚙️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Scanner Processing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Link Mint &amp; Transfer</a:t>
            </a:r>
          </a:p>
        </p:txBody>
      </p:sp>
      <p:cxnSp>
        <p:nvCxnSpPr>
          <p:cNvPr name="Connector 9" id="9"/>
          <p:cNvCxnSpPr/>
          <p:nvPr/>
        </p:nvCxnSpPr>
        <p:spPr>
          <a:xfrm rot="-68745" flipH="false" flipV="false">
            <a:off x="6857428" y="3041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0" y="241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DB Update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Pools↑ Ticks↑ Positions+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场景</a:t>
            </a:r>
            <a:r>
              <a:rPr lang="en-US" b="false" i="false" strike="noStrike" u="none" sz="24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 B: </a:t>
            </a:r>
            <a:r>
              <a:rPr lang="en-US" b="false" i="false" strike="noStrike" u="none" sz="24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用户进行Token交换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092" flipH="false" flipV="false">
            <a:off x="761369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74151">
                <a:alpha val="100000"/>
              </a:srgbClr>
            </a:solidFill>
            <a:prstDash val="dash"/>
            <a:round/>
            <a:headEnd type="none" w="lg" len="lg"/>
            <a:tailEnd type="arrow" w="sm" len="sm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5080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Pool.Swap()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Emit Swap Event</a:t>
            </a:r>
          </a:p>
        </p:txBody>
      </p:sp>
      <p:cxnSp>
        <p:nvCxnSpPr>
          <p:cNvPr name="Connector 14" id="14"/>
          <p:cNvCxnSpPr/>
          <p:nvPr/>
        </p:nvCxnSpPr>
        <p:spPr>
          <a:xfrm rot="-68745" flipH="false" flipV="false">
            <a:off x="3428428" y="5708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191000" y="5080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State Parsing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Parse Signed Int256</a:t>
            </a:r>
          </a:p>
        </p:txBody>
      </p:sp>
      <p:cxnSp>
        <p:nvCxnSpPr>
          <p:cNvPr name="Connector 16" id="16"/>
          <p:cNvCxnSpPr/>
          <p:nvPr/>
        </p:nvCxnSpPr>
        <p:spPr>
          <a:xfrm rot="-68745" flipH="false" flipV="false">
            <a:off x="6857428" y="5708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620000" y="5080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3F4F6"/>
                </a:solidFill>
                <a:latin typeface="Montserrat"/>
                <a:ea typeface="Montserrat"/>
                <a:cs typeface="Montserrat"/>
                <a:sym typeface="Montserrat"/>
              </a:rPr>
              <a:t>DB Sync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Update Price/Liq, Insert Swap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关键代码解析与设计取舍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08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1. 事件分发与缓存 (Dispatcher)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switch vLog.Topics[0] {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case SigSwap: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if s.Pools[vLog.Address] {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s.handleSwap(vLog)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设计取舍：内存缓存 Pool 地址。避免对每个 Swap 事件都查询数据库，显著降低 IO。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0" y="1524000"/>
            <a:ext cx="508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8B5CF6"/>
                </a:solidFill>
                <a:latin typeface="Oswald"/>
                <a:ea typeface="Oswald"/>
                <a:cs typeface="Oswald"/>
                <a:sym typeface="Oswald"/>
              </a:rPr>
              <a:t>2. 有符号数解析 (Signed Int)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if x.Cmp(limit_2_255) &gt;= 0 {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x.Sub(x, limit_2_256) // 补码还原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设计取舍：手动实现补码逻辑，而非依赖库转换，确保对 256 位大整数的精确控制。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318000"/>
            <a:ext cx="1066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3. 双路径 Position ID (Hybrid Strategy)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if hasNFT {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 id = log.Topics[3]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else {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 id = Keccak256(owner + pool + ticks)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设计取舍：兼容标准 NFT 模式与直接调用模式。NFT 路径保证标准性，哈希路径保证唯一性和测试便利性。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数据库结构与索引策略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794000" cy="228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190500" rIns="0" tIns="1905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Pools Table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3F4F6"/>
                </a:solidFill>
                <a:latin typeface="Roboto Mono"/>
                <a:ea typeface="Roboto Mono"/>
                <a:cs typeface="Roboto Mono"/>
                <a:sym typeface="Roboto Mono"/>
              </a:rPr>
              <a:t>PK: address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token0/1 (FK)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fee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liquidity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sqrt_price_x96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tick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778000"/>
            <a:ext cx="3048000" cy="228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190500" rIns="0" tIns="1905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Swaps Table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3F4F6"/>
                </a:solidFill>
                <a:latin typeface="Roboto Mono"/>
                <a:ea typeface="Roboto Mono"/>
                <a:cs typeface="Roboto Mono"/>
                <a:sym typeface="Roboto Mono"/>
              </a:rPr>
              <a:t>PK: tx_hash + log_index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pool_address (FK)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amount0/1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block_timestamp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382000" y="1778000"/>
            <a:ext cx="2794000" cy="2286000"/>
          </a:xfrm>
          <a:prstGeom prst="roundRect">
            <a:avLst>
              <a:gd name="adj" fmla="val 4443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190500" rIns="0" tIns="19050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B5CF6"/>
                </a:solidFill>
                <a:latin typeface="Oswald"/>
                <a:ea typeface="Oswald"/>
                <a:cs typeface="Oswald"/>
                <a:sym typeface="Oswald"/>
              </a:rPr>
              <a:t>Positions Table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3F4F6"/>
                </a:solidFill>
                <a:latin typeface="Roboto Mono"/>
                <a:ea typeface="Roboto Mono"/>
                <a:cs typeface="Roboto Mono"/>
                <a:sym typeface="Roboto Mono"/>
              </a:rPr>
              <a:t>PK: id (NFT/Hash)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owner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pool_address (FK)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tick_lower/upper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liquidity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445000"/>
            <a:ext cx="1066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3F4F6"/>
                </a:solidFill>
                <a:latin typeface="Oswald"/>
                <a:ea typeface="Oswald"/>
                <a:cs typeface="Oswald"/>
                <a:sym typeface="Oswald"/>
              </a:rPr>
              <a:t>🚀 索引优化策略 (Indexing Strategy)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查询主力：</a:t>
            </a:r>
            <a:r>
              <a:rPr lang="en-US" b="false" i="false" strike="noStrike" u="none" sz="1300">
                <a:solidFill>
                  <a:srgbClr val="EC4899"/>
                </a:solidFill>
                <a:latin typeface="Roboto Mono"/>
                <a:ea typeface="Roboto Mono"/>
                <a:cs typeface="Roboto Mono"/>
                <a:sym typeface="Roboto Mono"/>
              </a:rPr>
              <a:t>idx_swaps_pool_timestamp</a:t>
            </a: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-&gt; 优化 K 线图与历史记录查询。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用户视图：</a:t>
            </a:r>
            <a:r>
              <a:rPr lang="en-US" b="false" i="false" strike="noStrike" u="none" sz="1300">
                <a:solidFill>
                  <a:srgbClr val="8B5CF6"/>
                </a:solidFill>
                <a:latin typeface="Roboto Mono"/>
                <a:ea typeface="Roboto Mono"/>
                <a:cs typeface="Roboto Mono"/>
                <a:sym typeface="Roboto Mono"/>
              </a:rPr>
              <a:t>idx_positions_owner</a:t>
            </a: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-&gt; 快速加载用户的所有流动性头寸。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1D5DB"/>
              </a:buClr>
              <a:buChar char="•"/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完整性约束：</a:t>
            </a:r>
            <a:r>
              <a:rPr lang="en-US" b="false" i="false" strike="noStrike" u="none" sz="13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利用外键 (FK) 确保引用完整性，拒绝孤儿数据。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最佳实践与性能优化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556000" cy="4318000"/>
          </a:xfrm>
          <a:prstGeom prst="roundRect">
            <a:avLst>
              <a:gd name="adj" fmla="val 2856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381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2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批量处理 &amp; 缓存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使用</a:t>
            </a:r>
            <a:r>
              <a:rPr lang="en-US" b="false" i="false" strike="noStrike" u="none" sz="14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ANY($1)</a:t>
            </a: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SQL 查询一次性获取所有相关池子信息。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内存中维护</a:t>
            </a: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Pools map[addr]bool</a:t>
            </a: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，避免对高频事件重复查库。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72000" y="1778000"/>
            <a:ext cx="3556000" cy="4318000"/>
          </a:xfrm>
          <a:prstGeom prst="roundRect">
            <a:avLst>
              <a:gd name="adj" fmla="val 2856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381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⚛️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200">
                <a:solidFill>
                  <a:srgbClr val="8B5CF6"/>
                </a:solidFill>
                <a:latin typeface="Oswald"/>
                <a:ea typeface="Oswald"/>
                <a:cs typeface="Oswald"/>
                <a:sym typeface="Oswald"/>
              </a:rPr>
              <a:t>原子性事务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关联更新必须包裹在事务中：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tx.Begin()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Update Pools...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Insert Positions...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tx.Commit()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382000" y="1778000"/>
            <a:ext cx="3048000" cy="4318000"/>
          </a:xfrm>
          <a:prstGeom prst="roundRect">
            <a:avLst>
              <a:gd name="adj" fmla="val 3332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EC4899">
                <a:alpha val="100000"/>
              </a:srgbClr>
            </a:solidFill>
            <a:prstDash val="solid"/>
            <a:round/>
          </a:ln>
        </p:spPr>
        <p:txBody>
          <a:bodyPr anchor="t" rtlCol="false" vert="horz" wrap="square" lIns="254000" rIns="254000" tIns="38100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200">
                <a:solidFill>
                  <a:srgbClr val="EC4899"/>
                </a:solidFill>
                <a:latin typeface="Oswald"/>
                <a:ea typeface="Oswald"/>
                <a:cs typeface="Oswald"/>
                <a:sym typeface="Oswald"/>
              </a:rPr>
              <a:t>错误处理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避免 Panic，使用日志记录。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遇到网络抖动或脏数据时，记录 Error Log 并继续处理下一个区块，保证服务不中断。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show="true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921000" y="254000"/>
            <a:ext cx="6350000" cy="6350000"/>
          </a:xfrm>
          <a:prstGeom prst="ellipse">
            <a:avLst/>
          </a:prstGeom>
          <a:noFill/>
          <a:ln w="25400" cmpd="sng" cap="flat">
            <a:solidFill>
              <a:srgbClr val="06B6D4">
                <a:alpha val="5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556000" y="889000"/>
            <a:ext cx="5080000" cy="5080000"/>
          </a:xfrm>
          <a:prstGeom prst="ellipse">
            <a:avLst/>
          </a:prstGeom>
          <a:noFill/>
          <a:ln w="25400" cmpd="sng" cap="flat">
            <a:solidFill>
              <a:srgbClr val="8B5CF6">
                <a:alpha val="5000"/>
              </a:srgbClr>
            </a:solidFill>
            <a:prstDash val="dot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286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64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总结与</a:t>
            </a:r>
            <a:r>
              <a:rPr lang="en-US" b="false" i="false" strike="noStrike" u="none" sz="6400">
                <a:solidFill>
                  <a:srgbClr val="F3F4F6"/>
                </a:solidFill>
                <a:latin typeface="Bebas Neue"/>
                <a:ea typeface="Bebas Neue"/>
                <a:cs typeface="Bebas Neue"/>
                <a:sym typeface="Bebas Neue"/>
              </a:rPr>
              <a:t>课程作业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3556000"/>
            <a:ext cx="965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CA3AF"/>
                </a:solidFill>
                <a:latin typeface="Montserrat"/>
                <a:ea typeface="Montserrat"/>
                <a:cs typeface="Montserrat"/>
                <a:sym typeface="Montserrat"/>
              </a:rPr>
              <a:t>事件驱动架构 • 双路径 ID 策略 • 状态累加 • 断点续传 • 性能调优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56000" y="4191000"/>
            <a:ext cx="5080000" cy="1524000"/>
          </a:xfrm>
          <a:prstGeom prst="roundRect">
            <a:avLst>
              <a:gd name="adj" fmla="val 6665"/>
            </a:avLst>
          </a:prstGeom>
          <a:solidFill>
            <a:srgbClr val="1F2937">
              <a:alpha val="100000"/>
            </a:srgbClr>
          </a:solidFill>
          <a:ln w="12700" cmpd="sng" cap="flat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🚀 Next Steps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将MetaNodeSwap合约部署到 sepolia 测试网，扫描统计交易数据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350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b" rtlCol="false" vert="horz" wrap="square" lIns="0" rIns="0" tIns="0" bIns="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DEX Event Scanner Courseware © 202</a:t>
            </a:r>
            <a: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