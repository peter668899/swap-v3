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2884bae45074918" /><Relationship Type="http://schemas.openxmlformats.org/officeDocument/2006/relationships/extended-properties" Target="/docProps/app.xml" Id="Rfc3fdb00ee844da8" /><Relationship Type="http://schemas.openxmlformats.org/officeDocument/2006/relationships/officeDocument" Target="/ppt/presentation.xml" Id="R100af3e69dae47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1a0f11a337f42d8"/>
  </p:sldMasterIdLst>
  <p:notesMasterIdLst>
    <p:notesMasterId xmlns:r="http://schemas.openxmlformats.org/officeDocument/2006/relationships" r:id="Rc6df2defabb24796"/>
  </p:notesMasterIdLst>
  <p:sldIdLst>
    <p:sldId xmlns:r="http://schemas.openxmlformats.org/officeDocument/2006/relationships" id="256" r:id="R6aafba5be33244b0"/>
    <p:sldId xmlns:r="http://schemas.openxmlformats.org/officeDocument/2006/relationships" id="257" r:id="R297c24d8dad74f9b"/>
    <p:sldId xmlns:r="http://schemas.openxmlformats.org/officeDocument/2006/relationships" id="258" r:id="R0c6c371b18fa45b0"/>
    <p:sldId xmlns:r="http://schemas.openxmlformats.org/officeDocument/2006/relationships" id="259" r:id="R688f67a61b1f4cf7"/>
    <p:sldId xmlns:r="http://schemas.openxmlformats.org/officeDocument/2006/relationships" id="260" r:id="R5c44ae38062f4351"/>
    <p:sldId xmlns:r="http://schemas.openxmlformats.org/officeDocument/2006/relationships" id="261" r:id="Ra235e927a7cc4fba"/>
    <p:sldId xmlns:r="http://schemas.openxmlformats.org/officeDocument/2006/relationships" id="262" r:id="Raa40024af779400d"/>
    <p:sldId xmlns:r="http://schemas.openxmlformats.org/officeDocument/2006/relationships" id="263" r:id="R6d759896b9364052"/>
    <p:sldId xmlns:r="http://schemas.openxmlformats.org/officeDocument/2006/relationships" id="264" r:id="Re1f767031b2c4a3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ce77ad487bd42f9" /><Relationship Type="http://schemas.openxmlformats.org/officeDocument/2006/relationships/slideMaster" Target="/ppt/slideMasters/slideMaster1.xml" Id="Rc1a0f11a337f42d8" /><Relationship Type="http://schemas.openxmlformats.org/officeDocument/2006/relationships/notesMaster" Target="/ppt/notesMasters/notesMaster1.xml" Id="Rc6df2defabb24796" /><Relationship Type="http://schemas.openxmlformats.org/officeDocument/2006/relationships/presProps" Target="/ppt/presProps.xml" Id="Re18567dd013b4177" /><Relationship Type="http://schemas.openxmlformats.org/officeDocument/2006/relationships/tableStyles" Target="/ppt/tableStyles.xml" Id="R5275c41b9b8f4270" /><Relationship Type="http://schemas.openxmlformats.org/officeDocument/2006/relationships/slide" Target="/ppt/slides/slide1.xml" Id="R6aafba5be33244b0" /><Relationship Type="http://schemas.openxmlformats.org/officeDocument/2006/relationships/slide" Target="/ppt/slides/slide2.xml" Id="R297c24d8dad74f9b" /><Relationship Type="http://schemas.openxmlformats.org/officeDocument/2006/relationships/slide" Target="/ppt/slides/slide3.xml" Id="R0c6c371b18fa45b0" /><Relationship Type="http://schemas.openxmlformats.org/officeDocument/2006/relationships/slide" Target="/ppt/slides/slide4.xml" Id="R688f67a61b1f4cf7" /><Relationship Type="http://schemas.openxmlformats.org/officeDocument/2006/relationships/slide" Target="/ppt/slides/slide5.xml" Id="R5c44ae38062f4351" /><Relationship Type="http://schemas.openxmlformats.org/officeDocument/2006/relationships/slide" Target="/ppt/slides/slide6.xml" Id="Ra235e927a7cc4fba" /><Relationship Type="http://schemas.openxmlformats.org/officeDocument/2006/relationships/slide" Target="/ppt/slides/slide7.xml" Id="Raa40024af779400d" /><Relationship Type="http://schemas.openxmlformats.org/officeDocument/2006/relationships/slide" Target="/ppt/slides/slide8.xml" Id="R6d759896b9364052" /><Relationship Type="http://schemas.openxmlformats.org/officeDocument/2006/relationships/slide" Target="/ppt/slides/slide9.xml" Id="Re1f767031b2c4a3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2bf9301587648b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0d25209ed1f4143" /><Relationship Type="http://schemas.openxmlformats.org/officeDocument/2006/relationships/notesMaster" Target="/ppt/notesMasters/notesMaster1.xml" Id="Re9ff51ac1b6044c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a55da09e2d34b96" /><Relationship Type="http://schemas.openxmlformats.org/officeDocument/2006/relationships/notesMaster" Target="/ppt/notesMasters/notesMaster1.xml" Id="R33614d2205e74fd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0f0cf29facc42f6" /><Relationship Type="http://schemas.openxmlformats.org/officeDocument/2006/relationships/notesMaster" Target="/ppt/notesMasters/notesMaster1.xml" Id="Rd222cb9aea044f0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0dff9058dee44d2" /><Relationship Type="http://schemas.openxmlformats.org/officeDocument/2006/relationships/notesMaster" Target="/ppt/notesMasters/notesMaster1.xml" Id="Rffafe443bd0b41d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2bdff0ce40148ce" /><Relationship Type="http://schemas.openxmlformats.org/officeDocument/2006/relationships/notesMaster" Target="/ppt/notesMasters/notesMaster1.xml" Id="R7db596d48a2a455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083e38c4d1f4a57" /><Relationship Type="http://schemas.openxmlformats.org/officeDocument/2006/relationships/notesMaster" Target="/ppt/notesMasters/notesMaster1.xml" Id="Rd47c303b971f4de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4e2b315e7d94ae1" /><Relationship Type="http://schemas.openxmlformats.org/officeDocument/2006/relationships/notesMaster" Target="/ppt/notesMasters/notesMaster1.xml" Id="R7e817feee3b3490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fb0bb6cd5bc44e5" /><Relationship Type="http://schemas.openxmlformats.org/officeDocument/2006/relationships/notesMaster" Target="/ppt/notesMasters/notesMaster1.xml" Id="R821cfdf04a934b5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d4e0c9b464f44fa" /><Relationship Type="http://schemas.openxmlformats.org/officeDocument/2006/relationships/notesMaster" Target="/ppt/notesMasters/notesMaster1.xml" Id="Radcfcaf4b950469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内容依据：lesson2.2/backend/api/bot.go；api/routing.go；api/handlers.go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数据模型来自 token_liquidity_pools 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项目并未实现通用 BFS/DFS，课程用于比较思路。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源码入口：api/handlers.go。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精简自 api/bot.go 的 FindTwoHopRoute。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精简自 api/routing.go 的 FindThreeHopRoute。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源码：api/routing.go。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路由注册位于 api/routes.go。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复习来源：lesson2.2/多跳交易代码实现.md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715f62bcf441c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bb4b6b9e6ef4933" /><Relationship Type="http://schemas.openxmlformats.org/officeDocument/2006/relationships/slideLayout" Target="/ppt/slideLayouts/slideLayout1.xml" Id="R047d9166aaf640c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7d9166aaf640c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b875cc8bf34940" /><Relationship Type="http://schemas.openxmlformats.org/officeDocument/2006/relationships/notesSlide" Target="/ppt/notesSlides/notesSlide1.xml" Id="Rdc0c84b4cd1e4cf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ac51e8edb74ca6" /><Relationship Type="http://schemas.openxmlformats.org/officeDocument/2006/relationships/notesSlide" Target="/ppt/notesSlides/notesSlide2.xml" Id="Rd21a2c7f764f47a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c568737b624d76" /><Relationship Type="http://schemas.openxmlformats.org/officeDocument/2006/relationships/notesSlide" Target="/ppt/notesSlides/notesSlide3.xml" Id="R0479d76fd85c44e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21a8ddccd147ca" /><Relationship Type="http://schemas.openxmlformats.org/officeDocument/2006/relationships/notesSlide" Target="/ppt/notesSlides/notesSlide4.xml" Id="Ra4e651c0d743462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590b28b4014166" /><Relationship Type="http://schemas.openxmlformats.org/officeDocument/2006/relationships/notesSlide" Target="/ppt/notesSlides/notesSlide5.xml" Id="R73abb30590df487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4075b3af574be5" /><Relationship Type="http://schemas.openxmlformats.org/officeDocument/2006/relationships/notesSlide" Target="/ppt/notesSlides/notesSlide6.xml" Id="R3d30b2b8906746a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ac99d63dc2442f" /><Relationship Type="http://schemas.openxmlformats.org/officeDocument/2006/relationships/notesSlide" Target="/ppt/notesSlides/notesSlide7.xml" Id="R58c77065072b497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8c622db90f4f54" /><Relationship Type="http://schemas.openxmlformats.org/officeDocument/2006/relationships/notesSlide" Target="/ppt/notesSlides/notesSlide8.xml" Id="R2af630b599104cd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f6f0196d244d86" /><Relationship Type="http://schemas.openxmlformats.org/officeDocument/2006/relationships/notesSlide" Target="/ppt/notesSlides/notesSlide9.xml" Id="R2b9395cd7f31448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9233D6-5DCC-4718-AA1F-4CAF77059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489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0DD049-5B38-4E2C-A070-C30B7DBFA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0"/>
            <a:ext cx="409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32D324-999D-486D-ADFD-F4D28F27D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857250"/>
            <a:ext cx="2381250" cy="2381250"/>
          </a:xfrm>
          <a:prstGeom xmlns:a="http://schemas.openxmlformats.org/drawingml/2006/main" prst="roundRect">
            <a:avLst>
              <a:gd name="adj" fmla="val 3200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EC489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0CB9D8-AE65-4F21-8C38-FF149894F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C4899"/>
                </a:solidFill>
                <a:latin typeface="Roboto Mono"/>
                <a:ea typeface="Roboto Mono"/>
                <a:cs typeface="Roboto Mono"/>
              </a:defRPr>
            </a:pPr>
            <a:r>
              <a:rPr sz="1200" b="1">
                <a:solidFill>
                  <a:srgbClr val="EC4899"/>
                </a:solidFill>
                <a:latin typeface="Roboto Mono"/>
                <a:ea typeface="Roboto Mono"/>
                <a:cs typeface="Roboto Mono"/>
              </a:rPr>
              <a:t>LESSON 2.3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138DB3-C0A3-485D-973F-97491A26C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3F4F6"/>
                </a:solidFill>
                <a:latin typeface="Noto Sans SC"/>
                <a:ea typeface="Noto Sans SC"/>
                <a:cs typeface="Noto Sans SC"/>
              </a:defRPr>
            </a:pPr>
            <a:r>
              <a:rPr sz="3450" b="1">
                <a:solidFill>
                  <a:srgbClr val="F3F4F6"/>
                </a:solidFill>
                <a:latin typeface="Noto Sans SC"/>
                <a:ea typeface="Noto Sans SC"/>
                <a:cs typeface="Noto Sans SC"/>
              </a:rPr>
              <a:t>多跳交易代码实现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B1CF11-A020-4504-A411-D1F5B9FCA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67050"/>
            <a:ext cx="647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AB4C3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AAB4C3"/>
                </a:solidFill>
                <a:latin typeface="Noto Sans SC"/>
                <a:ea typeface="Noto Sans SC"/>
                <a:cs typeface="Noto Sans SC"/>
              </a:rPr>
              <a:t>BFS、DFS 与项目中的 SQL + 应用层方案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0A3956-37FB-49F8-A6FB-3B4C746BF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AB4C3"/>
                </a:solidFill>
                <a:latin typeface="Roboto Mono"/>
                <a:ea typeface="Roboto Mono"/>
                <a:cs typeface="Roboto Mono"/>
              </a:defRPr>
            </a:pPr>
            <a:r>
              <a:rPr sz="1050" b="0">
                <a:solidFill>
                  <a:srgbClr val="AAB4C3"/>
                </a:solidFill>
                <a:latin typeface="Roboto Mono"/>
                <a:ea typeface="Roboto Mono"/>
                <a:cs typeface="Roboto Mono"/>
              </a:rPr>
              <a:t>DEX BACKEND COURSE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F3ACDF-0521-4152-915B-51B19E1F3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219200"/>
            <a:ext cx="114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541"/>
          </a:bodyPr>
          <a:lstStyle xmlns:a="http://schemas.openxmlformats.org/drawingml/2006/main"/>
          <a:p xmlns:a="http://schemas.openxmlformats.org/drawingml/2006/main">
            <a:pPr algn="ctr">
              <a:defRPr sz="5550" b="0">
                <a:solidFill>
                  <a:srgbClr val="EC4899"/>
                </a:solidFill>
                <a:latin typeface="Noto Sans SC"/>
                <a:ea typeface="Noto Sans SC"/>
                <a:cs typeface="Noto Sans SC"/>
              </a:defRPr>
            </a:pPr>
            <a:r>
              <a:rPr sz="5550" b="0">
                <a:solidFill>
                  <a:srgbClr val="EC4899"/>
                </a:solidFill>
                <a:latin typeface="Noto Sans SC"/>
                <a:ea typeface="Noto Sans SC"/>
                <a:cs typeface="Noto Sans SC"/>
              </a:rPr>
              <a:t>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34B771-5961-4BF3-91A6-A5DD36881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238375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3F4F6"/>
                </a:solidFill>
                <a:latin typeface="Roboto Mono"/>
                <a:ea typeface="Roboto Mono"/>
                <a:cs typeface="Roboto Mono"/>
              </a:defRPr>
            </a:pPr>
            <a:r>
              <a:rPr sz="3150" b="1">
                <a:solidFill>
                  <a:srgbClr val="F3F4F6"/>
                </a:solidFill>
                <a:latin typeface="Roboto Mono"/>
                <a:ea typeface="Roboto Mono"/>
                <a:cs typeface="Roboto Mono"/>
              </a:rPr>
              <a:t>2.3</a:t>
            </a:r>
          </a:p>
        </p:txBody>
      </p:sp>
    </p:spTree>
    <p:extLst>
      <p:ext uri="{BB962C8B-B14F-4D97-AF65-F5344CB8AC3E}">
        <p14:creationId xmlns:p14="http://schemas.microsoft.com/office/powerpoint/2010/main" val="17642802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B8943F-5B4B-421D-89AC-D11471995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0C85AA-4411-4D06-96C1-7552FC588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3F4F6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1">
                <a:solidFill>
                  <a:srgbClr val="F3F4F6"/>
                </a:solidFill>
                <a:latin typeface="Noto Sans SC"/>
                <a:ea typeface="Noto Sans SC"/>
                <a:cs typeface="Noto Sans SC"/>
              </a:rPr>
              <a:t>把流动性池看成图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24E886-45EE-4EE6-8041-D4ABF3F7C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04875"/>
            <a:ext cx="914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6B6D4"/>
                </a:solidFill>
                <a:latin typeface="Roboto Mono"/>
                <a:ea typeface="Roboto Mono"/>
                <a:cs typeface="Roboto Mono"/>
              </a:defRPr>
            </a:pPr>
            <a:r>
              <a:rPr sz="1050" b="0">
                <a:solidFill>
                  <a:srgbClr val="06B6D4"/>
                </a:solidFill>
                <a:latin typeface="Roboto Mono"/>
                <a:ea typeface="Roboto Mono"/>
                <a:cs typeface="Roboto Mono"/>
              </a:rPr>
              <a:t>LESSON 2.3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334179-5725-4F0A-81C8-557AA473D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000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AB4C3"/>
                </a:solidFill>
                <a:latin typeface="Roboto Mono"/>
                <a:ea typeface="Roboto Mono"/>
                <a:cs typeface="Roboto Mono"/>
              </a:defRPr>
            </a:pPr>
            <a:r>
              <a:rPr sz="1050" b="0">
                <a:solidFill>
                  <a:srgbClr val="AAB4C3"/>
                </a:solidFill>
                <a:latin typeface="Roboto Mono"/>
                <a:ea typeface="Roboto Mono"/>
                <a:cs typeface="Roboto Mono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749A1F-8B5D-4A31-9F98-8010E32FE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5219700" cy="447675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172234"/>
          </a:solidFill>
          <a:ln xmlns:a="http://schemas.openxmlformats.org/drawingml/2006/main" w="14288">
            <a:solidFill>
              <a:srgbClr val="33415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99C262-5284-484A-8BDD-3C01F4B8B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466850"/>
            <a:ext cx="5219700" cy="447675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172234"/>
          </a:solidFill>
          <a:ln xmlns:a="http://schemas.openxmlformats.org/drawingml/2006/main" w="14288">
            <a:solidFill>
              <a:srgbClr val="33415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860868-447E-4D1C-9F14-F93119C11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9545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6B6D4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06B6D4"/>
                </a:solidFill>
                <a:latin typeface="Noto Sans SC"/>
                <a:ea typeface="Noto Sans SC"/>
                <a:cs typeface="Noto Sans SC"/>
              </a:rPr>
              <a:t>图模型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64E3E4-3428-48AB-9C55-A1126C64A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66950"/>
            <a:ext cx="436245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3F4F6"/>
                </a:solidFill>
                <a:latin typeface="Roboto Mono"/>
                <a:ea typeface="Roboto Mono"/>
                <a:cs typeface="Roboto Mono"/>
              </a:defRPr>
            </a:pPr>
            <a:r>
              <a:rPr sz="1500" b="0">
                <a:solidFill>
                  <a:srgbClr val="F3F4F6"/>
                </a:solidFill>
                <a:latin typeface="Roboto Mono"/>
                <a:ea typeface="Roboto Mono"/>
                <a:cs typeface="Roboto Mono"/>
              </a:rPr>
              <a:t>顶点：Token</a:t>
            </a:r>
          </a:p>
          <a:p xmlns:a="http://schemas.openxmlformats.org/drawingml/2006/main">
            <a:pPr algn="l">
              <a:defRPr sz="1500" b="0">
                <a:solidFill>
                  <a:srgbClr val="F3F4F6"/>
                </a:solidFill>
                <a:latin typeface="Roboto Mono"/>
                <a:ea typeface="Roboto Mono"/>
                <a:cs typeface="Roboto Mono"/>
              </a:defRPr>
            </a:pPr>
            <a:r>
              <a:rPr sz="1500" b="0">
                <a:solidFill>
                  <a:srgbClr val="F3F4F6"/>
                </a:solidFill>
                <a:latin typeface="Roboto Mono"/>
                <a:ea typeface="Roboto Mono"/>
                <a:cs typeface="Roboto Mono"/>
              </a:rPr>
              <a:t>边：Pool</a:t>
            </a:r>
          </a:p>
          <a:p xmlns:a="http://schemas.openxmlformats.org/drawingml/2006/main">
            <a:pPr algn="l">
              <a:defRPr sz="1500" b="0">
                <a:solidFill>
                  <a:srgbClr val="F3F4F6"/>
                </a:solidFill>
                <a:latin typeface="Roboto Mono"/>
                <a:ea typeface="Roboto Mono"/>
                <a:cs typeface="Roboto Mono"/>
              </a:defRPr>
            </a:pPr>
            <a:r>
              <a:rPr sz="1500" b="0">
                <a:solidFill>
                  <a:srgbClr val="F3F4F6"/>
                </a:solidFill>
                <a:latin typeface="Roboto Mono"/>
                <a:ea typeface="Roboto Mono"/>
                <a:cs typeface="Roboto Mono"/>
              </a:rPr>
              <a:t>边属性：reserve、fee、liquidity、DEX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F3F4F6"/>
                </a:solidFill>
                <a:latin typeface="Roboto Mono"/>
                <a:ea typeface="Roboto Mono"/>
                <a:cs typeface="Roboto Mono"/>
              </a:defRPr>
            </a:pPr>
            <a:r>
              <a:rPr sz="1500" b="0">
                <a:solidFill>
                  <a:srgbClr val="F3F4F6"/>
                </a:solidFill>
                <a:latin typeface="Roboto Mono"/>
                <a:ea typeface="Roboto Mono"/>
                <a:cs typeface="Roboto Mono"/>
              </a:rPr>
              <a:t>目标：从 tokenIn 找到 tokenOut 的有限长度路径。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B0B92D-DDA6-45B4-9BBC-B58A66713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9545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C4899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EC4899"/>
                </a:solidFill>
                <a:latin typeface="Noto Sans SC"/>
                <a:ea typeface="Noto Sans SC"/>
                <a:cs typeface="Noto Sans SC"/>
              </a:rPr>
              <a:t>约束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63968F-B38E-4A63-BE59-A03A9C1AD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36245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3F4F6"/>
                </a:solidFill>
                <a:latin typeface="Roboto Mono"/>
                <a:ea typeface="Roboto Mono"/>
                <a:cs typeface="Roboto Mono"/>
              </a:defRPr>
            </a:pPr>
            <a:r>
              <a:rPr sz="1425" b="0">
                <a:solidFill>
                  <a:srgbClr val="F3F4F6"/>
                </a:solidFill>
                <a:latin typeface="Roboto Mono"/>
                <a:ea typeface="Roboto Mono"/>
                <a:cs typeface="Roboto Mono"/>
              </a:rPr>
              <a:t>chain_id 一致</a:t>
            </a:r>
          </a:p>
          <a:p xmlns:a="http://schemas.openxmlformats.org/drawingml/2006/main">
            <a:pPr algn="l">
              <a:defRPr sz="1425" b="0">
                <a:solidFill>
                  <a:srgbClr val="F3F4F6"/>
                </a:solidFill>
                <a:latin typeface="Roboto Mono"/>
                <a:ea typeface="Roboto Mono"/>
                <a:cs typeface="Roboto Mono"/>
              </a:defRPr>
            </a:pPr>
            <a:r>
              <a:rPr sz="1425" b="0">
                <a:solidFill>
                  <a:srgbClr val="F3F4F6"/>
                </a:solidFill>
                <a:latin typeface="Roboto Mono"/>
                <a:ea typeface="Roboto Mono"/>
                <a:cs typeface="Roboto Mono"/>
              </a:rPr>
              <a:t>is_active = 1</a:t>
            </a:r>
          </a:p>
          <a:p xmlns:a="http://schemas.openxmlformats.org/drawingml/2006/main">
            <a:pPr algn="l">
              <a:defRPr sz="1425" b="0">
                <a:solidFill>
                  <a:srgbClr val="F3F4F6"/>
                </a:solidFill>
                <a:latin typeface="Roboto Mono"/>
                <a:ea typeface="Roboto Mono"/>
                <a:cs typeface="Roboto Mono"/>
              </a:defRPr>
            </a:pPr>
            <a:r>
              <a:rPr sz="1425" b="0">
                <a:solidFill>
                  <a:srgbClr val="F3F4F6"/>
                </a:solidFill>
                <a:latin typeface="Roboto Mono"/>
                <a:ea typeface="Roboto Mono"/>
                <a:cs typeface="Roboto Mono"/>
              </a:rPr>
              <a:t>liquidity &gt; minLiquidity</a:t>
            </a:r>
          </a:p>
          <a:p xmlns:a="http://schemas.openxmlformats.org/drawingml/2006/main">
            <a:pPr algn="l">
              <a:defRPr sz="1425" b="0">
                <a:solidFill>
                  <a:srgbClr val="F3F4F6"/>
                </a:solidFill>
                <a:latin typeface="Roboto Mono"/>
                <a:ea typeface="Roboto Mono"/>
                <a:cs typeface="Roboto Mono"/>
              </a:defRPr>
            </a:pPr>
            <a:r>
              <a:rPr sz="1425" b="0">
                <a:solidFill>
                  <a:srgbClr val="F3F4F6"/>
                </a:solidFill>
                <a:latin typeface="Roboto Mono"/>
                <a:ea typeface="Roboto Mono"/>
                <a:cs typeface="Roboto Mono"/>
              </a:rPr>
              <a:t>避免回到起点或重复池</a:t>
            </a:r>
          </a:p>
          <a:p xmlns:a="http://schemas.openxmlformats.org/drawingml/2006/main">
            <a:pPr algn="l">
              <a:defRPr sz="1425" b="0">
                <a:solidFill>
                  <a:srgbClr val="F3F4F6"/>
                </a:solidFill>
                <a:latin typeface="Roboto Mono"/>
                <a:ea typeface="Roboto Mono"/>
                <a:cs typeface="Roboto Mono"/>
              </a:defRPr>
            </a:pPr>
            <a:r>
              <a:rPr sz="1425" b="0">
                <a:solidFill>
                  <a:srgbClr val="F3F4F6"/>
                </a:solidFill>
                <a:latin typeface="Roboto Mono"/>
                <a:ea typeface="Roboto Mono"/>
                <a:cs typeface="Roboto Mono"/>
              </a:rPr>
              <a:t>限制最大跳数与候选数</a:t>
            </a:r>
          </a:p>
        </p:txBody>
      </p:sp>
    </p:spTree>
    <p:extLst>
      <p:ext uri="{BB962C8B-B14F-4D97-AF65-F5344CB8AC3E}">
        <p14:creationId xmlns:p14="http://schemas.microsoft.com/office/powerpoint/2010/main" val="7090400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A391F4-12E5-4B51-B2DD-FA8ECB46A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E09263-5DDD-4878-9056-3ABE0D7D9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3F4F6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1">
                <a:solidFill>
                  <a:srgbClr val="F3F4F6"/>
                </a:solidFill>
                <a:latin typeface="Noto Sans SC"/>
                <a:ea typeface="Noto Sans SC"/>
                <a:cs typeface="Noto Sans SC"/>
              </a:rPr>
              <a:t>BFS、DFS 与当前实现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4ABF19-62B9-4D74-A7DB-28DF689D2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04875"/>
            <a:ext cx="914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6B6D4"/>
                </a:solidFill>
                <a:latin typeface="Roboto Mono"/>
                <a:ea typeface="Roboto Mono"/>
                <a:cs typeface="Roboto Mono"/>
              </a:defRPr>
            </a:pPr>
            <a:r>
              <a:rPr sz="1050" b="0">
                <a:solidFill>
                  <a:srgbClr val="06B6D4"/>
                </a:solidFill>
                <a:latin typeface="Roboto Mono"/>
                <a:ea typeface="Roboto Mono"/>
                <a:cs typeface="Roboto Mono"/>
              </a:rPr>
              <a:t>LESSON 2.3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0D8BA9-CE0C-482D-987A-CB88FA12B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000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AB4C3"/>
                </a:solidFill>
                <a:latin typeface="Roboto Mono"/>
                <a:ea typeface="Roboto Mono"/>
                <a:cs typeface="Roboto Mono"/>
              </a:defRPr>
            </a:pPr>
            <a:r>
              <a:rPr sz="1050" b="0">
                <a:solidFill>
                  <a:srgbClr val="AAB4C3"/>
                </a:solidFill>
                <a:latin typeface="Roboto Mono"/>
                <a:ea typeface="Roboto Mono"/>
                <a:cs typeface="Roboto Mono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CE9B82-6840-47F5-AB34-8544E4A9D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C4899"/>
                </a:solidFill>
                <a:latin typeface="Roboto Mono"/>
                <a:ea typeface="Roboto Mono"/>
                <a:cs typeface="Roboto Mono"/>
              </a:defRPr>
            </a:pPr>
            <a:r>
              <a:rPr sz="1650" b="1">
                <a:solidFill>
                  <a:srgbClr val="EC4899"/>
                </a:solidFill>
                <a:latin typeface="Roboto Mono"/>
                <a:ea typeface="Roboto Mono"/>
                <a:cs typeface="Roboto Mono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E45DE8-E07B-4D9D-AB2A-60DAF806A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0495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4899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B32568-A83C-4466-ABB3-6C168DAB9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4478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3F4F6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3F4F6"/>
                </a:solidFill>
                <a:latin typeface="Noto Sans SC"/>
                <a:ea typeface="Noto Sans SC"/>
                <a:cs typeface="Noto Sans SC"/>
              </a:rPr>
              <a:t>BFS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1657DA-79C1-4930-ACC1-0898288E3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457325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4C3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AB4C3"/>
                </a:solidFill>
                <a:latin typeface="Noto Sans SC"/>
                <a:ea typeface="Noto Sans SC"/>
                <a:cs typeface="Noto Sans SC"/>
              </a:rPr>
              <a:t>按层扩展，适合优先寻找跳数最少的路径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AC0596-4635-43EB-A79C-F38371CBE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47925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C4899"/>
                </a:solidFill>
                <a:latin typeface="Roboto Mono"/>
                <a:ea typeface="Roboto Mono"/>
                <a:cs typeface="Roboto Mono"/>
              </a:defRPr>
            </a:pPr>
            <a:r>
              <a:rPr sz="1650" b="1">
                <a:solidFill>
                  <a:srgbClr val="EC4899"/>
                </a:solidFill>
                <a:latin typeface="Roboto Mono"/>
                <a:ea typeface="Roboto Mono"/>
                <a:cs typeface="Roboto Mon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8432AA-08CB-431B-BA58-A505FC6E9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7650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489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A36BCE-DAA2-41B0-891B-8FC534BB1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4193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3F4F6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3F4F6"/>
                </a:solidFill>
                <a:latin typeface="Noto Sans SC"/>
                <a:ea typeface="Noto Sans SC"/>
                <a:cs typeface="Noto Sans SC"/>
              </a:rPr>
              <a:t>DFS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D5226B-AA70-414D-B87A-16C90E34C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28875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4C3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AB4C3"/>
                </a:solidFill>
                <a:latin typeface="Noto Sans SC"/>
                <a:ea typeface="Noto Sans SC"/>
                <a:cs typeface="Noto Sans SC"/>
              </a:rPr>
              <a:t>沿单条路径深入，配合回溯枚举有限深度路径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219D45-B053-4353-8EA9-9F0C05E2A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19475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C4899"/>
                </a:solidFill>
                <a:latin typeface="Roboto Mono"/>
                <a:ea typeface="Roboto Mono"/>
                <a:cs typeface="Roboto Mono"/>
              </a:defRPr>
            </a:pPr>
            <a:r>
              <a:rPr sz="1650" b="1">
                <a:solidFill>
                  <a:srgbClr val="EC4899"/>
                </a:solidFill>
                <a:latin typeface="Roboto Mono"/>
                <a:ea typeface="Roboto Mono"/>
                <a:cs typeface="Roboto Mono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9B06BA-00DF-496E-B2DC-9F6AF6100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4805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4899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C58E6D-0484-495D-92E6-E252CE139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3909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3F4F6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3F4F6"/>
                </a:solidFill>
                <a:latin typeface="Noto Sans SC"/>
                <a:ea typeface="Noto Sans SC"/>
                <a:cs typeface="Noto Sans SC"/>
              </a:rPr>
              <a:t>SQL CTE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C25491-7B40-48C0-A41A-7CDBC9631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400425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4C3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AB4C3"/>
                </a:solidFill>
                <a:latin typeface="Noto Sans SC"/>
                <a:ea typeface="Noto Sans SC"/>
                <a:cs typeface="Noto Sans SC"/>
              </a:rPr>
              <a:t>当前项目把 1、2、3 跳展开为固定层级 JOIN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9A0525-0A46-4798-8A1E-38A4705A2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91025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C4899"/>
                </a:solidFill>
                <a:latin typeface="Roboto Mono"/>
                <a:ea typeface="Roboto Mono"/>
                <a:cs typeface="Roboto Mono"/>
              </a:defRPr>
            </a:pPr>
            <a:r>
              <a:rPr sz="1650" b="1">
                <a:solidFill>
                  <a:srgbClr val="EC4899"/>
                </a:solidFill>
                <a:latin typeface="Roboto Mono"/>
                <a:ea typeface="Roboto Mono"/>
                <a:cs typeface="Roboto Mono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E13E40-3B0F-4697-B7D5-E423F018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1960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4899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878A87-9C31-4847-B3F7-E01627B2A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3624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3F4F6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3F4F6"/>
                </a:solidFill>
                <a:latin typeface="Noto Sans SC"/>
                <a:ea typeface="Noto Sans SC"/>
                <a:cs typeface="Noto Sans SC"/>
              </a:rPr>
              <a:t>应用层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106565-5372-4868-A661-2BBF76697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371975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4C3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AB4C3"/>
                </a:solidFill>
                <a:latin typeface="Noto Sans SC"/>
                <a:ea typeface="Noto Sans SC"/>
                <a:cs typeface="Noto Sans SC"/>
              </a:rPr>
              <a:t>Go 负责模拟每跳输出、计算评分并排序</a:t>
            </a:r>
          </a:p>
        </p:txBody>
      </p:sp>
    </p:spTree>
    <p:extLst>
      <p:ext uri="{BB962C8B-B14F-4D97-AF65-F5344CB8AC3E}">
        <p14:creationId xmlns:p14="http://schemas.microsoft.com/office/powerpoint/2010/main" val="7503426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7726C3-8893-4860-838D-49DAC03E9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406D20-121B-40B9-AE4C-F1679F0B8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3F4F6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1">
                <a:solidFill>
                  <a:srgbClr val="F3F4F6"/>
                </a:solidFill>
                <a:latin typeface="Noto Sans SC"/>
                <a:ea typeface="Noto Sans SC"/>
                <a:cs typeface="Noto Sans SC"/>
              </a:rPr>
              <a:t>项目调用链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A9A81D-22C5-40E7-AB65-96508B20B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04875"/>
            <a:ext cx="914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6B6D4"/>
                </a:solidFill>
                <a:latin typeface="Roboto Mono"/>
                <a:ea typeface="Roboto Mono"/>
                <a:cs typeface="Roboto Mono"/>
              </a:defRPr>
            </a:pPr>
            <a:r>
              <a:rPr sz="1050" b="0">
                <a:solidFill>
                  <a:srgbClr val="06B6D4"/>
                </a:solidFill>
                <a:latin typeface="Roboto Mono"/>
                <a:ea typeface="Roboto Mono"/>
                <a:cs typeface="Roboto Mono"/>
              </a:rPr>
              <a:t>LESSON 2.3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DBAA0B-E86C-47AE-96FB-1136B5C91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000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AB4C3"/>
                </a:solidFill>
                <a:latin typeface="Roboto Mono"/>
                <a:ea typeface="Roboto Mono"/>
                <a:cs typeface="Roboto Mono"/>
              </a:defRPr>
            </a:pPr>
            <a:r>
              <a:rPr sz="1050" b="0">
                <a:solidFill>
                  <a:srgbClr val="AAB4C3"/>
                </a:solidFill>
                <a:latin typeface="Roboto Mono"/>
                <a:ea typeface="Roboto Mono"/>
                <a:cs typeface="Roboto Mono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B340C5-2E03-4322-B743-53FC1F4BE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2371725" cy="2381250"/>
          </a:xfrm>
          <a:prstGeom xmlns:a="http://schemas.openxmlformats.org/drawingml/2006/main" prst="roundRect">
            <a:avLst>
              <a:gd name="adj" fmla="val 3213"/>
            </a:avLst>
          </a:prstGeom>
          <a:solidFill xmlns:a="http://schemas.openxmlformats.org/drawingml/2006/main">
            <a:srgbClr val="172234"/>
          </a:solidFill>
          <a:ln xmlns:a="http://schemas.openxmlformats.org/drawingml/2006/main" w="14288">
            <a:solidFill>
              <a:srgbClr val="EC4899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0F576C-3230-4F60-8C0F-0C58EA54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86000"/>
            <a:ext cx="2028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C4899"/>
                </a:solidFill>
                <a:latin typeface="Roboto Mono"/>
                <a:ea typeface="Roboto Mono"/>
                <a:cs typeface="Roboto Mono"/>
              </a:defRPr>
            </a:pPr>
            <a:r>
              <a:rPr sz="1350" b="1">
                <a:solidFill>
                  <a:srgbClr val="EC4899"/>
                </a:solidFill>
                <a:latin typeface="Roboto Mono"/>
                <a:ea typeface="Roboto Mono"/>
                <a:cs typeface="Roboto Mon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EE976D-CFCA-450A-A575-07A61E6C7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81300"/>
            <a:ext cx="20288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3F4F6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3F4F6"/>
                </a:solidFill>
                <a:latin typeface="Noto Sans SC"/>
                <a:ea typeface="Noto Sans SC"/>
                <a:cs typeface="Noto Sans SC"/>
              </a:rPr>
              <a:t>HTTP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835786-F5B3-43DC-B97F-E7C0592E9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76625"/>
            <a:ext cx="2028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AB4C3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AAB4C3"/>
                </a:solidFill>
                <a:latin typeface="Noto Sans SC"/>
                <a:ea typeface="Noto Sans SC"/>
                <a:cs typeface="Noto Sans SC"/>
              </a:rPr>
              <a:t>GetMultiHopQuote 解析请求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2B9002-99F7-4F24-83BF-4D9DFEE5F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857500"/>
            <a:ext cx="28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0">
                <a:solidFill>
                  <a:srgbClr val="AAB4C3"/>
                </a:solidFill>
                <a:latin typeface="Noto Sans SC"/>
                <a:ea typeface="Noto Sans SC"/>
                <a:cs typeface="Noto Sans SC"/>
              </a:defRPr>
            </a:pPr>
            <a:r>
              <a:rPr sz="2850" b="0">
                <a:solidFill>
                  <a:srgbClr val="AAB4C3"/>
                </a:solidFill>
                <a:latin typeface="Noto Sans SC"/>
                <a:ea typeface="Noto Sans SC"/>
                <a:cs typeface="Noto Sans SC"/>
              </a:rPr>
              <a:t>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D646CB-8AB6-46F6-87EA-863C86F21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095500"/>
            <a:ext cx="2371725" cy="2381250"/>
          </a:xfrm>
          <a:prstGeom xmlns:a="http://schemas.openxmlformats.org/drawingml/2006/main" prst="roundRect">
            <a:avLst>
              <a:gd name="adj" fmla="val 3213"/>
            </a:avLst>
          </a:prstGeom>
          <a:solidFill xmlns:a="http://schemas.openxmlformats.org/drawingml/2006/main">
            <a:srgbClr val="172234"/>
          </a:solidFill>
          <a:ln xmlns:a="http://schemas.openxmlformats.org/drawingml/2006/main" w="14288">
            <a:solidFill>
              <a:srgbClr val="8B5CF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6499A4-E33E-4DF9-BD78-02874BA9F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286000"/>
            <a:ext cx="2028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B5CF6"/>
                </a:solidFill>
                <a:latin typeface="Roboto Mono"/>
                <a:ea typeface="Roboto Mono"/>
                <a:cs typeface="Roboto Mono"/>
              </a:defRPr>
            </a:pPr>
            <a:r>
              <a:rPr sz="1350" b="1">
                <a:solidFill>
                  <a:srgbClr val="8B5CF6"/>
                </a:solidFill>
                <a:latin typeface="Roboto Mono"/>
                <a:ea typeface="Roboto Mono"/>
                <a:cs typeface="Roboto Mon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D421B6-BEC0-4C72-8A94-52759561C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781300"/>
            <a:ext cx="20288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3F4F6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3F4F6"/>
                </a:solidFill>
                <a:latin typeface="Noto Sans SC"/>
                <a:ea typeface="Noto Sans SC"/>
                <a:cs typeface="Noto Sans SC"/>
              </a:rPr>
              <a:t>找路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A1BE14-F535-42E6-822D-CAA2058BA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476625"/>
            <a:ext cx="2028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AB4C3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AAB4C3"/>
                </a:solidFill>
                <a:latin typeface="Noto Sans SC"/>
                <a:ea typeface="Noto Sans SC"/>
                <a:cs typeface="Noto Sans SC"/>
              </a:rPr>
              <a:t>FindBestRoute 汇总候选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14106D-D91B-4E2F-9BD5-6D69E6E97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857500"/>
            <a:ext cx="28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0">
                <a:solidFill>
                  <a:srgbClr val="AAB4C3"/>
                </a:solidFill>
                <a:latin typeface="Noto Sans SC"/>
                <a:ea typeface="Noto Sans SC"/>
                <a:cs typeface="Noto Sans SC"/>
              </a:defRPr>
            </a:pPr>
            <a:r>
              <a:rPr sz="2850" b="0">
                <a:solidFill>
                  <a:srgbClr val="AAB4C3"/>
                </a:solidFill>
                <a:latin typeface="Noto Sans SC"/>
                <a:ea typeface="Noto Sans SC"/>
                <a:cs typeface="Noto Sans SC"/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981DF1-9371-4875-A724-D9D1E30EE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0"/>
            <a:ext cx="2371725" cy="2381250"/>
          </a:xfrm>
          <a:prstGeom xmlns:a="http://schemas.openxmlformats.org/drawingml/2006/main" prst="roundRect">
            <a:avLst>
              <a:gd name="adj" fmla="val 3213"/>
            </a:avLst>
          </a:prstGeom>
          <a:solidFill xmlns:a="http://schemas.openxmlformats.org/drawingml/2006/main">
            <a:srgbClr val="172234"/>
          </a:solidFill>
          <a:ln xmlns:a="http://schemas.openxmlformats.org/drawingml/2006/main" w="14288">
            <a:solidFill>
              <a:srgbClr val="EC4899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2A1B7A-49E6-4B61-BA15-6038953DA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86000"/>
            <a:ext cx="2028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C4899"/>
                </a:solidFill>
                <a:latin typeface="Roboto Mono"/>
                <a:ea typeface="Roboto Mono"/>
                <a:cs typeface="Roboto Mono"/>
              </a:defRPr>
            </a:pPr>
            <a:r>
              <a:rPr sz="1350" b="1">
                <a:solidFill>
                  <a:srgbClr val="EC4899"/>
                </a:solidFill>
                <a:latin typeface="Roboto Mono"/>
                <a:ea typeface="Roboto Mono"/>
                <a:cs typeface="Roboto Mon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752CB9-518F-4635-8EF3-E29F582D7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81300"/>
            <a:ext cx="20288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3F4F6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3F4F6"/>
                </a:solidFill>
                <a:latin typeface="Noto Sans SC"/>
                <a:ea typeface="Noto Sans SC"/>
                <a:cs typeface="Noto Sans SC"/>
              </a:rPr>
              <a:t>模拟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79EFFB-16E9-4967-9F64-37202EE64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76625"/>
            <a:ext cx="2028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AB4C3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AAB4C3"/>
                </a:solidFill>
                <a:latin typeface="Noto Sans SC"/>
                <a:ea typeface="Noto Sans SC"/>
                <a:cs typeface="Noto Sans SC"/>
              </a:rPr>
              <a:t>SimulateSwap 逐池计算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241809-1BC3-4E79-BF88-A58D994C4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857500"/>
            <a:ext cx="28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0">
                <a:solidFill>
                  <a:srgbClr val="AAB4C3"/>
                </a:solidFill>
                <a:latin typeface="Noto Sans SC"/>
                <a:ea typeface="Noto Sans SC"/>
                <a:cs typeface="Noto Sans SC"/>
              </a:defRPr>
            </a:pPr>
            <a:r>
              <a:rPr sz="2850" b="0">
                <a:solidFill>
                  <a:srgbClr val="AAB4C3"/>
                </a:solidFill>
                <a:latin typeface="Noto Sans SC"/>
                <a:ea typeface="Noto Sans SC"/>
                <a:cs typeface="Noto Sans SC"/>
              </a:rPr>
              <a:t>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D56C42-D50A-40DE-A032-7E17FE580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095500"/>
            <a:ext cx="2371725" cy="2381250"/>
          </a:xfrm>
          <a:prstGeom xmlns:a="http://schemas.openxmlformats.org/drawingml/2006/main" prst="roundRect">
            <a:avLst>
              <a:gd name="adj" fmla="val 3213"/>
            </a:avLst>
          </a:prstGeom>
          <a:solidFill xmlns:a="http://schemas.openxmlformats.org/drawingml/2006/main">
            <a:srgbClr val="172234"/>
          </a:solidFill>
          <a:ln xmlns:a="http://schemas.openxmlformats.org/drawingml/2006/main" w="14288">
            <a:solidFill>
              <a:srgbClr val="8B5CF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3A4731-034A-49FC-B963-67B18DEB4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286000"/>
            <a:ext cx="2028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B5CF6"/>
                </a:solidFill>
                <a:latin typeface="Roboto Mono"/>
                <a:ea typeface="Roboto Mono"/>
                <a:cs typeface="Roboto Mono"/>
              </a:defRPr>
            </a:pPr>
            <a:r>
              <a:rPr sz="1350" b="1">
                <a:solidFill>
                  <a:srgbClr val="8B5CF6"/>
                </a:solidFill>
                <a:latin typeface="Roboto Mono"/>
                <a:ea typeface="Roboto Mono"/>
                <a:cs typeface="Roboto Mono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310906-7F3C-4A25-AAFC-955371244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781300"/>
            <a:ext cx="20288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3F4F6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3F4F6"/>
                </a:solidFill>
                <a:latin typeface="Noto Sans SC"/>
                <a:ea typeface="Noto Sans SC"/>
                <a:cs typeface="Noto Sans SC"/>
              </a:rPr>
              <a:t>评分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9EDA6F-5EDC-4A78-BE12-9FEFDA511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476625"/>
            <a:ext cx="2028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AB4C3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AAB4C3"/>
                </a:solidFill>
                <a:latin typeface="Noto Sans SC"/>
                <a:ea typeface="Noto Sans SC"/>
                <a:cs typeface="Noto Sans SC"/>
              </a:rPr>
              <a:t>CalculateRouteScore 排序</a:t>
            </a:r>
          </a:p>
        </p:txBody>
      </p:sp>
    </p:spTree>
    <p:extLst>
      <p:ext uri="{BB962C8B-B14F-4D97-AF65-F5344CB8AC3E}">
        <p14:creationId xmlns:p14="http://schemas.microsoft.com/office/powerpoint/2010/main" val="7720766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A0F5CB-82AE-4020-8119-781D0D649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C9E183-8889-4733-A1FE-519579CCF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3F4F6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1">
                <a:solidFill>
                  <a:srgbClr val="F3F4F6"/>
                </a:solidFill>
                <a:latin typeface="Noto Sans SC"/>
                <a:ea typeface="Noto Sans SC"/>
                <a:cs typeface="Noto Sans SC"/>
              </a:rPr>
              <a:t>两跳查询的 SQL 结构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E629DF-017C-415E-917F-D103C5D23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04875"/>
            <a:ext cx="914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6B6D4"/>
                </a:solidFill>
                <a:latin typeface="Roboto Mono"/>
                <a:ea typeface="Roboto Mono"/>
                <a:cs typeface="Roboto Mono"/>
              </a:defRPr>
            </a:pPr>
            <a:r>
              <a:rPr sz="1050" b="0">
                <a:solidFill>
                  <a:srgbClr val="06B6D4"/>
                </a:solidFill>
                <a:latin typeface="Roboto Mono"/>
                <a:ea typeface="Roboto Mono"/>
                <a:cs typeface="Roboto Mono"/>
              </a:rPr>
              <a:t>LESSON 2.3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4B720B-C661-4643-AE24-71A1F3279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000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AB4C3"/>
                </a:solidFill>
                <a:latin typeface="Roboto Mono"/>
                <a:ea typeface="Roboto Mono"/>
                <a:cs typeface="Roboto Mono"/>
              </a:defRPr>
            </a:pPr>
            <a:r>
              <a:rPr sz="1050" b="0">
                <a:solidFill>
                  <a:srgbClr val="AAB4C3"/>
                </a:solidFill>
                <a:latin typeface="Roboto Mono"/>
                <a:ea typeface="Roboto Mono"/>
                <a:cs typeface="Roboto Mono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AD33EF-F66A-4108-AD61-7A2D9AFAD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85900"/>
            <a:ext cx="6858000" cy="447675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14288">
            <a:solidFill>
              <a:srgbClr val="33415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9EAC7D-CE71-4EE8-A13B-AC80BA8F2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63817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E2F0"/>
                </a:solidFill>
                <a:latin typeface="Roboto Mono"/>
                <a:ea typeface="Roboto Mono"/>
                <a:cs typeface="Roboto Mono"/>
              </a:defRPr>
            </a:pPr>
            <a:r>
              <a:rPr sz="1200" b="0">
                <a:solidFill>
                  <a:srgbClr val="D9E2F0"/>
                </a:solidFill>
                <a:latin typeface="Roboto Mono"/>
                <a:ea typeface="Roboto Mono"/>
                <a:cs typeface="Roboto Mono"/>
              </a:rPr>
              <a:t>WITH first_hop AS (</a:t>
            </a:r>
          </a:p>
          <a:p xmlns:a="http://schemas.openxmlformats.org/drawingml/2006/main">
            <a:pPr algn="l">
              <a:defRPr sz="1200" b="0">
                <a:solidFill>
                  <a:srgbClr val="D9E2F0"/>
                </a:solidFill>
                <a:latin typeface="Roboto Mono"/>
                <a:ea typeface="Roboto Mono"/>
                <a:cs typeface="Roboto Mono"/>
              </a:defRPr>
            </a:pPr>
            <a:r>
              <a:rPr sz="1200" b="0">
                <a:solidFill>
                  <a:srgbClr val="D9E2F0"/>
                </a:solidFill>
                <a:latin typeface="Roboto Mono"/>
                <a:ea typeface="Roboto Mono"/>
                <a:cs typeface="Roboto Mono"/>
              </a:rPr>
              <a:t>  SELECT ...,</a:t>
            </a:r>
          </a:p>
          <a:p xmlns:a="http://schemas.openxmlformats.org/drawingml/2006/main">
            <a:pPr algn="l">
              <a:defRPr sz="1200" b="0">
                <a:solidFill>
                  <a:srgbClr val="D9E2F0"/>
                </a:solidFill>
                <a:latin typeface="Roboto Mono"/>
                <a:ea typeface="Roboto Mono"/>
                <a:cs typeface="Roboto Mono"/>
              </a:defRPr>
            </a:pPr>
            <a:r>
              <a:rPr sz="1200" b="0">
                <a:solidFill>
                  <a:srgbClr val="D9E2F0"/>
                </a:solidFill>
                <a:latin typeface="Roboto Mono"/>
                <a:ea typeface="Roboto Mono"/>
                <a:cs typeface="Roboto Mono"/>
              </a:rPr>
              <a:t>    CASE WHEN token0_address = ?</a:t>
            </a:r>
          </a:p>
          <a:p xmlns:a="http://schemas.openxmlformats.org/drawingml/2006/main">
            <a:pPr algn="l">
              <a:defRPr sz="1200" b="0">
                <a:solidFill>
                  <a:srgbClr val="D9E2F0"/>
                </a:solidFill>
                <a:latin typeface="Roboto Mono"/>
                <a:ea typeface="Roboto Mono"/>
                <a:cs typeface="Roboto Mono"/>
              </a:defRPr>
            </a:pPr>
            <a:r>
              <a:rPr sz="1200" b="0">
                <a:solidFill>
                  <a:srgbClr val="D9E2F0"/>
                </a:solidFill>
                <a:latin typeface="Roboto Mono"/>
                <a:ea typeface="Roboto Mono"/>
                <a:cs typeface="Roboto Mono"/>
              </a:rPr>
              <a:t>      THEN token1_address</a:t>
            </a:r>
          </a:p>
          <a:p xmlns:a="http://schemas.openxmlformats.org/drawingml/2006/main">
            <a:pPr algn="l">
              <a:defRPr sz="1200" b="0">
                <a:solidFill>
                  <a:srgbClr val="D9E2F0"/>
                </a:solidFill>
                <a:latin typeface="Roboto Mono"/>
                <a:ea typeface="Roboto Mono"/>
                <a:cs typeface="Roboto Mono"/>
              </a:defRPr>
            </a:pPr>
            <a:r>
              <a:rPr sz="1200" b="0">
                <a:solidFill>
                  <a:srgbClr val="D9E2F0"/>
                </a:solidFill>
                <a:latin typeface="Roboto Mono"/>
                <a:ea typeface="Roboto Mono"/>
                <a:cs typeface="Roboto Mono"/>
              </a:rPr>
              <a:t>      ELSE token0_address</a:t>
            </a:r>
          </a:p>
          <a:p xmlns:a="http://schemas.openxmlformats.org/drawingml/2006/main">
            <a:pPr algn="l">
              <a:defRPr sz="1200" b="0">
                <a:solidFill>
                  <a:srgbClr val="D9E2F0"/>
                </a:solidFill>
                <a:latin typeface="Roboto Mono"/>
                <a:ea typeface="Roboto Mono"/>
                <a:cs typeface="Roboto Mono"/>
              </a:defRPr>
            </a:pPr>
            <a:r>
              <a:rPr sz="1200" b="0">
                <a:solidFill>
                  <a:srgbClr val="D9E2F0"/>
                </a:solidFill>
                <a:latin typeface="Roboto Mono"/>
                <a:ea typeface="Roboto Mono"/>
                <a:cs typeface="Roboto Mono"/>
              </a:rPr>
              <a:t>    END AS intermediate_token</a:t>
            </a:r>
          </a:p>
          <a:p xmlns:a="http://schemas.openxmlformats.org/drawingml/2006/main">
            <a:pPr algn="l">
              <a:defRPr sz="1200" b="0">
                <a:solidFill>
                  <a:srgbClr val="D9E2F0"/>
                </a:solidFill>
                <a:latin typeface="Roboto Mono"/>
                <a:ea typeface="Roboto Mono"/>
                <a:cs typeface="Roboto Mono"/>
              </a:defRPr>
            </a:pPr>
            <a:r>
              <a:rPr sz="1200" b="0">
                <a:solidFill>
                  <a:srgbClr val="D9E2F0"/>
                </a:solidFill>
                <a:latin typeface="Roboto Mono"/>
                <a:ea typeface="Roboto Mono"/>
                <a:cs typeface="Roboto Mono"/>
              </a:rPr>
              <a:t>  FROM token_liquidity_pools</a:t>
            </a:r>
          </a:p>
          <a:p xmlns:a="http://schemas.openxmlformats.org/drawingml/2006/main">
            <a:pPr algn="l">
              <a:defRPr sz="1200" b="0">
                <a:solidFill>
                  <a:srgbClr val="D9E2F0"/>
                </a:solidFill>
                <a:latin typeface="Roboto Mono"/>
                <a:ea typeface="Roboto Mono"/>
                <a:cs typeface="Roboto Mono"/>
              </a:defRPr>
            </a:pPr>
            <a:r>
              <a:rPr sz="1200" b="0">
                <a:solidFill>
                  <a:srgbClr val="D9E2F0"/>
                </a:solidFill>
                <a:latin typeface="Roboto Mono"/>
                <a:ea typeface="Roboto Mono"/>
                <a:cs typeface="Roboto Mono"/>
              </a:rPr>
              <a:t>  WHERE chain_id = ?</a:t>
            </a:r>
          </a:p>
          <a:p xmlns:a="http://schemas.openxmlformats.org/drawingml/2006/main">
            <a:pPr algn="l">
              <a:defRPr sz="1200" b="0">
                <a:solidFill>
                  <a:srgbClr val="D9E2F0"/>
                </a:solidFill>
                <a:latin typeface="Roboto Mono"/>
                <a:ea typeface="Roboto Mono"/>
                <a:cs typeface="Roboto Mono"/>
              </a:defRPr>
            </a:pPr>
            <a:r>
              <a:rPr sz="1200" b="0">
                <a:solidFill>
                  <a:srgbClr val="D9E2F0"/>
                </a:solidFill>
                <a:latin typeface="Roboto Mono"/>
                <a:ea typeface="Roboto Mono"/>
                <a:cs typeface="Roboto Mono"/>
              </a:rPr>
              <a:t>    AND is_active = 1</a:t>
            </a:r>
          </a:p>
          <a:p xmlns:a="http://schemas.openxmlformats.org/drawingml/2006/main">
            <a:pPr algn="l">
              <a:defRPr sz="1200" b="0">
                <a:solidFill>
                  <a:srgbClr val="D9E2F0"/>
                </a:solidFill>
                <a:latin typeface="Roboto Mono"/>
                <a:ea typeface="Roboto Mono"/>
                <a:cs typeface="Roboto Mono"/>
              </a:defRPr>
            </a:pPr>
            <a:r>
              <a:rPr sz="1200" b="0">
                <a:solidFill>
                  <a:srgbClr val="D9E2F0"/>
                </a:solidFill>
                <a:latin typeface="Roboto Mono"/>
                <a:ea typeface="Roboto Mono"/>
                <a:cs typeface="Roboto Mono"/>
              </a:rPr>
              <a:t>    AND liquidity_usd &gt; ?</a:t>
            </a:r>
          </a:p>
          <a:p xmlns:a="http://schemas.openxmlformats.org/drawingml/2006/main">
            <a:pPr algn="l">
              <a:defRPr sz="1200" b="0">
                <a:solidFill>
                  <a:srgbClr val="D9E2F0"/>
                </a:solidFill>
                <a:latin typeface="Roboto Mono"/>
                <a:ea typeface="Roboto Mono"/>
                <a:cs typeface="Roboto Mono"/>
              </a:defRPr>
            </a:pPr>
            <a:r>
              <a:rPr sz="1200" b="0">
                <a:solidFill>
                  <a:srgbClr val="D9E2F0"/>
                </a:solidFill>
                <a:latin typeface="Roboto Mono"/>
                <a:ea typeface="Roboto Mono"/>
                <a:cs typeface="Roboto Mono"/>
              </a:rPr>
              <a:t>)</a:t>
            </a:r>
          </a:p>
          <a:p xmlns:a="http://schemas.openxmlformats.org/drawingml/2006/main">
            <a:pPr algn="l">
              <a:defRPr sz="1200" b="0">
                <a:solidFill>
                  <a:srgbClr val="D9E2F0"/>
                </a:solidFill>
                <a:latin typeface="Roboto Mono"/>
                <a:ea typeface="Roboto Mono"/>
                <a:cs typeface="Roboto Mono"/>
              </a:defRPr>
            </a:pPr>
            <a:r>
              <a:rPr sz="1200" b="0">
                <a:solidFill>
                  <a:srgbClr val="D9E2F0"/>
                </a:solidFill>
                <a:latin typeface="Roboto Mono"/>
                <a:ea typeface="Roboto Mono"/>
                <a:cs typeface="Roboto Mono"/>
              </a:rPr>
              <a:t>SELECT ...</a:t>
            </a:r>
          </a:p>
          <a:p xmlns:a="http://schemas.openxmlformats.org/drawingml/2006/main">
            <a:pPr algn="l">
              <a:defRPr sz="1200" b="0">
                <a:solidFill>
                  <a:srgbClr val="D9E2F0"/>
                </a:solidFill>
                <a:latin typeface="Roboto Mono"/>
                <a:ea typeface="Roboto Mono"/>
                <a:cs typeface="Roboto Mono"/>
              </a:defRPr>
            </a:pPr>
            <a:r>
              <a:rPr sz="1200" b="0">
                <a:solidFill>
                  <a:srgbClr val="D9E2F0"/>
                </a:solidFill>
                <a:latin typeface="Roboto Mono"/>
                <a:ea typeface="Roboto Mono"/>
                <a:cs typeface="Roboto Mono"/>
              </a:rPr>
              <a:t>FROM first_hop fh</a:t>
            </a:r>
          </a:p>
          <a:p xmlns:a="http://schemas.openxmlformats.org/drawingml/2006/main">
            <a:pPr algn="l">
              <a:defRPr sz="1200" b="0">
                <a:solidFill>
                  <a:srgbClr val="D9E2F0"/>
                </a:solidFill>
                <a:latin typeface="Roboto Mono"/>
                <a:ea typeface="Roboto Mono"/>
                <a:cs typeface="Roboto Mono"/>
              </a:defRPr>
            </a:pPr>
            <a:r>
              <a:rPr sz="1200" b="0">
                <a:solidFill>
                  <a:srgbClr val="D9E2F0"/>
                </a:solidFill>
                <a:latin typeface="Roboto Mono"/>
                <a:ea typeface="Roboto Mono"/>
                <a:cs typeface="Roboto Mono"/>
              </a:rPr>
              <a:t>JOIN token_liquidity_pools p</a:t>
            </a:r>
          </a:p>
          <a:p xmlns:a="http://schemas.openxmlformats.org/drawingml/2006/main">
            <a:pPr algn="l">
              <a:defRPr sz="1200" b="0">
                <a:solidFill>
                  <a:srgbClr val="D9E2F0"/>
                </a:solidFill>
                <a:latin typeface="Roboto Mono"/>
                <a:ea typeface="Roboto Mono"/>
                <a:cs typeface="Roboto Mono"/>
              </a:defRPr>
            </a:pPr>
            <a:r>
              <a:rPr sz="1200" b="0">
                <a:solidFill>
                  <a:srgbClr val="D9E2F0"/>
                </a:solidFill>
                <a:latin typeface="Roboto Mono"/>
                <a:ea typeface="Roboto Mono"/>
                <a:cs typeface="Roboto Mono"/>
              </a:rPr>
              <a:t>  ON p.token0_address = fh.intermediate_token</a:t>
            </a:r>
          </a:p>
          <a:p xmlns:a="http://schemas.openxmlformats.org/drawingml/2006/main">
            <a:pPr algn="l">
              <a:defRPr sz="1200" b="0">
                <a:solidFill>
                  <a:srgbClr val="D9E2F0"/>
                </a:solidFill>
                <a:latin typeface="Roboto Mono"/>
                <a:ea typeface="Roboto Mono"/>
                <a:cs typeface="Roboto Mono"/>
              </a:defRPr>
            </a:pPr>
            <a:r>
              <a:rPr sz="1200" b="0">
                <a:solidFill>
                  <a:srgbClr val="D9E2F0"/>
                </a:solidFill>
                <a:latin typeface="Roboto Mono"/>
                <a:ea typeface="Roboto Mono"/>
                <a:cs typeface="Roboto Mono"/>
              </a:rPr>
              <a:t>  OR p.token1_address = fh.intermediate_token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DA722E-A374-487F-849E-7AEC9F35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764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6B6D4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06B6D4"/>
                </a:solidFill>
                <a:latin typeface="Noto Sans SC"/>
                <a:ea typeface="Noto Sans SC"/>
                <a:cs typeface="Noto Sans SC"/>
              </a:rPr>
              <a:t>职责边界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869C90-0604-45F1-8B98-FD4B64FBF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24100"/>
            <a:ext cx="314325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4C3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AAB4C3"/>
                </a:solidFill>
                <a:latin typeface="Noto Sans SC"/>
                <a:ea typeface="Noto Sans SC"/>
                <a:cs typeface="Noto Sans SC"/>
              </a:rPr>
              <a:t>数据库完成邻接关系连接和早期剪枝。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AAB4C3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AAB4C3"/>
                </a:solidFill>
                <a:latin typeface="Noto Sans SC"/>
                <a:ea typeface="Noto Sans SC"/>
                <a:cs typeface="Noto Sans SC"/>
              </a:rPr>
              <a:t>Go 将每一行组装成 Route：</a:t>
            </a:r>
          </a:p>
          <a:p xmlns:a="http://schemas.openxmlformats.org/drawingml/2006/main">
            <a:pPr algn="l">
              <a:defRPr sz="1275" b="0">
                <a:solidFill>
                  <a:srgbClr val="AAB4C3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AAB4C3"/>
                </a:solidFill>
                <a:latin typeface="Noto Sans SC"/>
                <a:ea typeface="Noto Sans SC"/>
                <a:cs typeface="Noto Sans SC"/>
              </a:rPr>
              <a:t>Pools</a:t>
            </a:r>
          </a:p>
          <a:p xmlns:a="http://schemas.openxmlformats.org/drawingml/2006/main">
            <a:pPr algn="l">
              <a:defRPr sz="1275" b="0">
                <a:solidFill>
                  <a:srgbClr val="AAB4C3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AAB4C3"/>
                </a:solidFill>
                <a:latin typeface="Noto Sans SC"/>
                <a:ea typeface="Noto Sans SC"/>
                <a:cs typeface="Noto Sans SC"/>
              </a:rPr>
              <a:t>TokenPath</a:t>
            </a:r>
          </a:p>
          <a:p xmlns:a="http://schemas.openxmlformats.org/drawingml/2006/main">
            <a:pPr algn="l">
              <a:defRPr sz="1275" b="0">
                <a:solidFill>
                  <a:srgbClr val="AAB4C3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AAB4C3"/>
                </a:solidFill>
                <a:latin typeface="Noto Sans SC"/>
                <a:ea typeface="Noto Sans SC"/>
                <a:cs typeface="Noto Sans SC"/>
              </a:rPr>
              <a:t>TotalFee</a:t>
            </a:r>
          </a:p>
          <a:p xmlns:a="http://schemas.openxmlformats.org/drawingml/2006/main">
            <a:pPr algn="l">
              <a:defRPr sz="1275" b="0">
                <a:solidFill>
                  <a:srgbClr val="AAB4C3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AAB4C3"/>
                </a:solidFill>
                <a:latin typeface="Noto Sans SC"/>
                <a:ea typeface="Noto Sans SC"/>
                <a:cs typeface="Noto Sans SC"/>
              </a:rPr>
              <a:t>AvgLiquidity</a:t>
            </a:r>
          </a:p>
        </p:txBody>
      </p:sp>
    </p:spTree>
    <p:extLst>
      <p:ext uri="{BB962C8B-B14F-4D97-AF65-F5344CB8AC3E}">
        <p14:creationId xmlns:p14="http://schemas.microsoft.com/office/powerpoint/2010/main" val="19857812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05A7A3-7873-4985-B96F-2546FD1F4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641F6B-5F21-4E2F-9DE3-F8CDE1D51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3F4F6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1">
                <a:solidFill>
                  <a:srgbClr val="F3F4F6"/>
                </a:solidFill>
                <a:latin typeface="Noto Sans SC"/>
                <a:ea typeface="Noto Sans SC"/>
                <a:cs typeface="Noto Sans SC"/>
              </a:rPr>
              <a:t>三跳查询与深度限制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6C0FC1-78DB-4CF9-A396-984DB0E1A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04875"/>
            <a:ext cx="914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6B6D4"/>
                </a:solidFill>
                <a:latin typeface="Roboto Mono"/>
                <a:ea typeface="Roboto Mono"/>
                <a:cs typeface="Roboto Mono"/>
              </a:defRPr>
            </a:pPr>
            <a:r>
              <a:rPr sz="1050" b="0">
                <a:solidFill>
                  <a:srgbClr val="06B6D4"/>
                </a:solidFill>
                <a:latin typeface="Roboto Mono"/>
                <a:ea typeface="Roboto Mono"/>
                <a:cs typeface="Roboto Mono"/>
              </a:rPr>
              <a:t>LESSON 2.3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4C1A82-B728-48A0-B97F-B1056DF24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000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AB4C3"/>
                </a:solidFill>
                <a:latin typeface="Roboto Mono"/>
                <a:ea typeface="Roboto Mono"/>
                <a:cs typeface="Roboto Mono"/>
              </a:defRPr>
            </a:pPr>
            <a:r>
              <a:rPr sz="1050" b="0">
                <a:solidFill>
                  <a:srgbClr val="AAB4C3"/>
                </a:solidFill>
                <a:latin typeface="Roboto Mono"/>
                <a:ea typeface="Roboto Mono"/>
                <a:cs typeface="Roboto Mono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EFF95C-BFF9-4A39-A106-3B6E45ADA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85900"/>
            <a:ext cx="6858000" cy="447675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14288">
            <a:solidFill>
              <a:srgbClr val="33415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D9A93D-F9FE-4A7B-B738-44DD8B0A7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63817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E2F0"/>
                </a:solidFill>
                <a:latin typeface="Roboto Mono"/>
                <a:ea typeface="Roboto Mono"/>
                <a:cs typeface="Roboto Mono"/>
              </a:defRPr>
            </a:pPr>
            <a:r>
              <a:rPr sz="1200" b="0">
                <a:solidFill>
                  <a:srgbClr val="D9E2F0"/>
                </a:solidFill>
                <a:latin typeface="Roboto Mono"/>
                <a:ea typeface="Roboto Mono"/>
                <a:cs typeface="Roboto Mono"/>
              </a:rPr>
              <a:t>WITH first_hop AS (...),</a:t>
            </a:r>
          </a:p>
          <a:p xmlns:a="http://schemas.openxmlformats.org/drawingml/2006/main">
            <a:pPr algn="l">
              <a:defRPr sz="1200" b="0">
                <a:solidFill>
                  <a:srgbClr val="D9E2F0"/>
                </a:solidFill>
                <a:latin typeface="Roboto Mono"/>
                <a:ea typeface="Roboto Mono"/>
                <a:cs typeface="Roboto Mono"/>
              </a:defRPr>
            </a:pPr>
            <a:r>
              <a:rPr sz="1200" b="0">
                <a:solidFill>
                  <a:srgbClr val="D9E2F0"/>
                </a:solidFill>
                <a:latin typeface="Roboto Mono"/>
                <a:ea typeface="Roboto Mono"/>
                <a:cs typeface="Roboto Mono"/>
              </a:rPr>
              <a:t>second_hop AS (</a:t>
            </a:r>
          </a:p>
          <a:p xmlns:a="http://schemas.openxmlformats.org/drawingml/2006/main">
            <a:pPr algn="l">
              <a:defRPr sz="1200" b="0">
                <a:solidFill>
                  <a:srgbClr val="D9E2F0"/>
                </a:solidFill>
                <a:latin typeface="Roboto Mono"/>
                <a:ea typeface="Roboto Mono"/>
                <a:cs typeface="Roboto Mono"/>
              </a:defRPr>
            </a:pPr>
            <a:r>
              <a:rPr sz="1200" b="0">
                <a:solidFill>
                  <a:srgbClr val="D9E2F0"/>
                </a:solidFill>
                <a:latin typeface="Roboto Mono"/>
                <a:ea typeface="Roboto Mono"/>
                <a:cs typeface="Roboto Mono"/>
              </a:rPr>
              <a:t>  SELECT ..., intermediate_token2</a:t>
            </a:r>
          </a:p>
          <a:p xmlns:a="http://schemas.openxmlformats.org/drawingml/2006/main">
            <a:pPr algn="l">
              <a:defRPr sz="1200" b="0">
                <a:solidFill>
                  <a:srgbClr val="D9E2F0"/>
                </a:solidFill>
                <a:latin typeface="Roboto Mono"/>
                <a:ea typeface="Roboto Mono"/>
                <a:cs typeface="Roboto Mono"/>
              </a:defRPr>
            </a:pPr>
            <a:r>
              <a:rPr sz="1200" b="0">
                <a:solidFill>
                  <a:srgbClr val="D9E2F0"/>
                </a:solidFill>
                <a:latin typeface="Roboto Mono"/>
                <a:ea typeface="Roboto Mono"/>
                <a:cs typeface="Roboto Mono"/>
              </a:rPr>
              <a:t>  FROM first_hop</a:t>
            </a:r>
          </a:p>
          <a:p xmlns:a="http://schemas.openxmlformats.org/drawingml/2006/main">
            <a:pPr algn="l">
              <a:defRPr sz="1200" b="0">
                <a:solidFill>
                  <a:srgbClr val="D9E2F0"/>
                </a:solidFill>
                <a:latin typeface="Roboto Mono"/>
                <a:ea typeface="Roboto Mono"/>
                <a:cs typeface="Roboto Mono"/>
              </a:defRPr>
            </a:pPr>
            <a:r>
              <a:rPr sz="1200" b="0">
                <a:solidFill>
                  <a:srgbClr val="D9E2F0"/>
                </a:solidFill>
                <a:latin typeface="Roboto Mono"/>
                <a:ea typeface="Roboto Mono"/>
                <a:cs typeface="Roboto Mono"/>
              </a:rPr>
              <a:t>  JOIN token_liquidity_pools ...</a:t>
            </a:r>
          </a:p>
          <a:p xmlns:a="http://schemas.openxmlformats.org/drawingml/2006/main">
            <a:pPr algn="l">
              <a:defRPr sz="1200" b="0">
                <a:solidFill>
                  <a:srgbClr val="D9E2F0"/>
                </a:solidFill>
                <a:latin typeface="Roboto Mono"/>
                <a:ea typeface="Roboto Mono"/>
                <a:cs typeface="Roboto Mono"/>
              </a:defRPr>
            </a:pPr>
            <a:r>
              <a:rPr sz="1200" b="0">
                <a:solidFill>
                  <a:srgbClr val="D9E2F0"/>
                </a:solidFill>
                <a:latin typeface="Roboto Mono"/>
                <a:ea typeface="Roboto Mono"/>
                <a:cs typeface="Roboto Mono"/>
              </a:rPr>
              <a:t>)</a:t>
            </a:r>
          </a:p>
          <a:p xmlns:a="http://schemas.openxmlformats.org/drawingml/2006/main">
            <a:pPr algn="l">
              <a:defRPr sz="1200" b="0">
                <a:solidFill>
                  <a:srgbClr val="D9E2F0"/>
                </a:solidFill>
                <a:latin typeface="Roboto Mono"/>
                <a:ea typeface="Roboto Mono"/>
                <a:cs typeface="Roboto Mono"/>
              </a:defRPr>
            </a:pPr>
            <a:r>
              <a:rPr sz="1200" b="0">
                <a:solidFill>
                  <a:srgbClr val="D9E2F0"/>
                </a:solidFill>
                <a:latin typeface="Roboto Mono"/>
                <a:ea typeface="Roboto Mono"/>
                <a:cs typeface="Roboto Mono"/>
              </a:rPr>
              <a:t>SELECT ...</a:t>
            </a:r>
          </a:p>
          <a:p xmlns:a="http://schemas.openxmlformats.org/drawingml/2006/main">
            <a:pPr algn="l">
              <a:defRPr sz="1200" b="0">
                <a:solidFill>
                  <a:srgbClr val="D9E2F0"/>
                </a:solidFill>
                <a:latin typeface="Roboto Mono"/>
                <a:ea typeface="Roboto Mono"/>
                <a:cs typeface="Roboto Mono"/>
              </a:defRPr>
            </a:pPr>
            <a:r>
              <a:rPr sz="1200" b="0">
                <a:solidFill>
                  <a:srgbClr val="D9E2F0"/>
                </a:solidFill>
                <a:latin typeface="Roboto Mono"/>
                <a:ea typeface="Roboto Mono"/>
                <a:cs typeface="Roboto Mono"/>
              </a:rPr>
              <a:t>FROM second_hop</a:t>
            </a:r>
          </a:p>
          <a:p xmlns:a="http://schemas.openxmlformats.org/drawingml/2006/main">
            <a:pPr algn="l">
              <a:defRPr sz="1200" b="0">
                <a:solidFill>
                  <a:srgbClr val="D9E2F0"/>
                </a:solidFill>
                <a:latin typeface="Roboto Mono"/>
                <a:ea typeface="Roboto Mono"/>
                <a:cs typeface="Roboto Mono"/>
              </a:defRPr>
            </a:pPr>
            <a:r>
              <a:rPr sz="1200" b="0">
                <a:solidFill>
                  <a:srgbClr val="D9E2F0"/>
                </a:solidFill>
                <a:latin typeface="Roboto Mono"/>
                <a:ea typeface="Roboto Mono"/>
                <a:cs typeface="Roboto Mono"/>
              </a:rPr>
              <a:t>JOIN token_liquidity_pools pool3 ...</a:t>
            </a:r>
          </a:p>
          <a:p xmlns:a="http://schemas.openxmlformats.org/drawingml/2006/main">
            <a:pPr algn="l">
              <a:defRPr sz="1200" b="0">
                <a:solidFill>
                  <a:srgbClr val="D9E2F0"/>
                </a:solidFill>
                <a:latin typeface="Roboto Mono"/>
                <a:ea typeface="Roboto Mono"/>
                <a:cs typeface="Roboto Mono"/>
              </a:defRPr>
            </a:pPr>
            <a:r>
              <a:rPr sz="1200" b="0">
                <a:solidFill>
                  <a:srgbClr val="D9E2F0"/>
                </a:solidFill>
                <a:latin typeface="Roboto Mono"/>
                <a:ea typeface="Roboto Mono"/>
                <a:cs typeface="Roboto Mono"/>
              </a:rPr>
              <a:t>ORDER BY avg_liquidity DESC</a:t>
            </a:r>
          </a:p>
          <a:p xmlns:a="http://schemas.openxmlformats.org/drawingml/2006/main">
            <a:pPr algn="l">
              <a:defRPr sz="1200" b="0">
                <a:solidFill>
                  <a:srgbClr val="D9E2F0"/>
                </a:solidFill>
                <a:latin typeface="Roboto Mono"/>
                <a:ea typeface="Roboto Mono"/>
                <a:cs typeface="Roboto Mono"/>
              </a:defRPr>
            </a:pPr>
            <a:r>
              <a:rPr sz="1200" b="0">
                <a:solidFill>
                  <a:srgbClr val="D9E2F0"/>
                </a:solidFill>
                <a:latin typeface="Roboto Mono"/>
                <a:ea typeface="Roboto Mono"/>
                <a:cs typeface="Roboto Mono"/>
              </a:rPr>
              <a:t>LIMIT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CA1C74-DCA3-4230-B19F-D2ED893D6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764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B5CF6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8B5CF6"/>
                </a:solidFill>
                <a:latin typeface="Noto Sans SC"/>
                <a:ea typeface="Noto Sans SC"/>
                <a:cs typeface="Noto Sans SC"/>
              </a:rPr>
              <a:t>为什么固定三跳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99B130-E242-46DF-A5AE-03DE9FFEA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24100"/>
            <a:ext cx="314325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4C3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AAB4C3"/>
                </a:solidFill>
                <a:latin typeface="Noto Sans SC"/>
                <a:ea typeface="Noto Sans SC"/>
                <a:cs typeface="Noto Sans SC"/>
              </a:rPr>
              <a:t>查询规模可控，SQL 容易理解。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AAB4C3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AAB4C3"/>
                </a:solidFill>
                <a:latin typeface="Noto Sans SC"/>
                <a:ea typeface="Noto Sans SC"/>
                <a:cs typeface="Noto Sans SC"/>
              </a:rPr>
              <a:t>代价是不能自动扩展到任意深度。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AAB4C3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AAB4C3"/>
                </a:solidFill>
                <a:latin typeface="Noto Sans SC"/>
                <a:ea typeface="Noto Sans SC"/>
                <a:cs typeface="Noto Sans SC"/>
              </a:rPr>
              <a:t>若需要通用搜索，可把池子加载成邻接表，再用 BFS/DFS 配合 visited 与 maxHops。</a:t>
            </a:r>
          </a:p>
        </p:txBody>
      </p:sp>
    </p:spTree>
    <p:extLst>
      <p:ext uri="{BB962C8B-B14F-4D97-AF65-F5344CB8AC3E}">
        <p14:creationId xmlns:p14="http://schemas.microsoft.com/office/powerpoint/2010/main" val="19260939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9FDEBF-4F12-4089-9C11-B35405D8D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FAA837-3509-4394-AE26-BB9B2453C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3F4F6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1">
                <a:solidFill>
                  <a:srgbClr val="F3F4F6"/>
                </a:solidFill>
                <a:latin typeface="Noto Sans SC"/>
                <a:ea typeface="Noto Sans SC"/>
                <a:cs typeface="Noto Sans SC"/>
              </a:rPr>
              <a:t>逐跳模拟与评分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E49E77-3816-4E02-B5BE-56D7A7677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04875"/>
            <a:ext cx="914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6B6D4"/>
                </a:solidFill>
                <a:latin typeface="Roboto Mono"/>
                <a:ea typeface="Roboto Mono"/>
                <a:cs typeface="Roboto Mono"/>
              </a:defRPr>
            </a:pPr>
            <a:r>
              <a:rPr sz="1050" b="0">
                <a:solidFill>
                  <a:srgbClr val="06B6D4"/>
                </a:solidFill>
                <a:latin typeface="Roboto Mono"/>
                <a:ea typeface="Roboto Mono"/>
                <a:cs typeface="Roboto Mono"/>
              </a:rPr>
              <a:t>LESSON 2.3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ABD98F-1251-4EB1-AEC4-E531CC156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000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AB4C3"/>
                </a:solidFill>
                <a:latin typeface="Roboto Mono"/>
                <a:ea typeface="Roboto Mono"/>
                <a:cs typeface="Roboto Mono"/>
              </a:defRPr>
            </a:pPr>
            <a:r>
              <a:rPr sz="1050" b="0">
                <a:solidFill>
                  <a:srgbClr val="AAB4C3"/>
                </a:solidFill>
                <a:latin typeface="Roboto Mono"/>
                <a:ea typeface="Roboto Mono"/>
                <a:cs typeface="Roboto Mono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41FAA3-8C08-4651-A5BE-50F0138DC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85900"/>
            <a:ext cx="6858000" cy="447675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14288">
            <a:solidFill>
              <a:srgbClr val="33415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F1B587-3D77-4464-9A10-E74C81F26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63817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E2F0"/>
                </a:solidFill>
                <a:latin typeface="Roboto Mono"/>
                <a:ea typeface="Roboto Mono"/>
                <a:cs typeface="Roboto Mono"/>
              </a:defRPr>
            </a:pPr>
            <a:r>
              <a:rPr sz="1200" b="0">
                <a:solidFill>
                  <a:srgbClr val="D9E2F0"/>
                </a:solidFill>
                <a:latin typeface="Roboto Mono"/>
                <a:ea typeface="Roboto Mono"/>
                <a:cs typeface="Roboto Mono"/>
              </a:rPr>
              <a:t>currentAmount := amountIn</a:t>
            </a:r>
          </a:p>
          <a:p xmlns:a="http://schemas.openxmlformats.org/drawingml/2006/main">
            <a:pPr algn="l">
              <a:defRPr sz="1200" b="0">
                <a:solidFill>
                  <a:srgbClr val="D9E2F0"/>
                </a:solidFill>
                <a:latin typeface="Roboto Mono"/>
                <a:ea typeface="Roboto Mono"/>
                <a:cs typeface="Roboto Mono"/>
              </a:defRPr>
            </a:pPr>
            <a:r>
              <a:rPr sz="1200" b="0">
                <a:solidFill>
                  <a:srgbClr val="D9E2F0"/>
                </a:solidFill>
                <a:latin typeface="Roboto Mono"/>
                <a:ea typeface="Roboto Mono"/>
                <a:cs typeface="Roboto Mono"/>
              </a:rPr>
              <a:t>for i, pool := range route.Pools {</a:t>
            </a:r>
          </a:p>
          <a:p xmlns:a="http://schemas.openxmlformats.org/drawingml/2006/main">
            <a:pPr algn="l">
              <a:defRPr sz="1200" b="0">
                <a:solidFill>
                  <a:srgbClr val="D9E2F0"/>
                </a:solidFill>
                <a:latin typeface="Roboto Mono"/>
                <a:ea typeface="Roboto Mono"/>
                <a:cs typeface="Roboto Mono"/>
              </a:defRPr>
            </a:pPr>
            <a:r>
              <a:rPr sz="1200" b="0">
                <a:solidFill>
                  <a:srgbClr val="D9E2F0"/>
                </a:solidFill>
                <a:latin typeface="Roboto Mono"/>
                <a:ea typeface="Roboto Mono"/>
                <a:cs typeface="Roboto Mono"/>
              </a:rPr>
              <a:t>  reserveIn, reserveOut := orient(pool, route.TokenPath[i])</a:t>
            </a:r>
          </a:p>
          <a:p xmlns:a="http://schemas.openxmlformats.org/drawingml/2006/main">
            <a:pPr algn="l">
              <a:defRPr sz="1200" b="0">
                <a:solidFill>
                  <a:srgbClr val="D9E2F0"/>
                </a:solidFill>
                <a:latin typeface="Roboto Mono"/>
                <a:ea typeface="Roboto Mono"/>
                <a:cs typeface="Roboto Mono"/>
              </a:defRPr>
            </a:pPr>
            <a:r>
              <a:rPr sz="1200" b="0">
                <a:solidFill>
                  <a:srgbClr val="D9E2F0"/>
                </a:solidFill>
                <a:latin typeface="Roboto Mono"/>
                <a:ea typeface="Roboto Mono"/>
                <a:cs typeface="Roboto Mono"/>
              </a:rPr>
              <a:t>  currentAmount = CalculateOutputAmount(</a:t>
            </a:r>
          </a:p>
          <a:p xmlns:a="http://schemas.openxmlformats.org/drawingml/2006/main">
            <a:pPr algn="l">
              <a:defRPr sz="1200" b="0">
                <a:solidFill>
                  <a:srgbClr val="D9E2F0"/>
                </a:solidFill>
                <a:latin typeface="Roboto Mono"/>
                <a:ea typeface="Roboto Mono"/>
                <a:cs typeface="Roboto Mono"/>
              </a:defRPr>
            </a:pPr>
            <a:r>
              <a:rPr sz="1200" b="0">
                <a:solidFill>
                  <a:srgbClr val="D9E2F0"/>
                </a:solidFill>
                <a:latin typeface="Roboto Mono"/>
                <a:ea typeface="Roboto Mono"/>
                <a:cs typeface="Roboto Mono"/>
              </a:rPr>
              <a:t>    currentAmount, reserveIn, reserveOut, pool.FeeRate,</a:t>
            </a:r>
          </a:p>
          <a:p xmlns:a="http://schemas.openxmlformats.org/drawingml/2006/main">
            <a:pPr algn="l">
              <a:defRPr sz="1200" b="0">
                <a:solidFill>
                  <a:srgbClr val="D9E2F0"/>
                </a:solidFill>
                <a:latin typeface="Roboto Mono"/>
                <a:ea typeface="Roboto Mono"/>
                <a:cs typeface="Roboto Mono"/>
              </a:defRPr>
            </a:pPr>
            <a:r>
              <a:rPr sz="1200" b="0">
                <a:solidFill>
                  <a:srgbClr val="D9E2F0"/>
                </a:solidFill>
                <a:latin typeface="Roboto Mono"/>
                <a:ea typeface="Roboto Mono"/>
                <a:cs typeface="Roboto Mono"/>
              </a:rPr>
              <a:t>  )</a:t>
            </a:r>
          </a:p>
          <a:p xmlns:a="http://schemas.openxmlformats.org/drawingml/2006/main">
            <a:pPr algn="l">
              <a:defRPr sz="1200" b="0">
                <a:solidFill>
                  <a:srgbClr val="D9E2F0"/>
                </a:solidFill>
                <a:latin typeface="Roboto Mono"/>
                <a:ea typeface="Roboto Mono"/>
                <a:cs typeface="Roboto Mono"/>
              </a:defRPr>
            </a:pPr>
            <a:r>
              <a:rPr sz="1200" b="0">
                <a:solidFill>
                  <a:srgbClr val="D9E2F0"/>
                </a:solidFill>
                <a:latin typeface="Roboto Mono"/>
                <a:ea typeface="Roboto Mono"/>
                <a:cs typeface="Roboto Mono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D9E2F0"/>
                </a:solidFill>
                <a:latin typeface="Roboto Mono"/>
                <a:ea typeface="Roboto Mono"/>
                <a:cs typeface="Roboto Mono"/>
              </a:defRPr>
            </a:pPr>
            <a:r>
              <a:rPr sz="1200" b="0">
                <a:solidFill>
                  <a:srgbClr val="D9E2F0"/>
                </a:solidFill>
                <a:latin typeface="Roboto Mono"/>
                <a:ea typeface="Roboto Mono"/>
                <a:cs typeface="Roboto Mono"/>
              </a:rPr>
              <a:t>score = liquidity*0.4 + fee*0.3 + price*0.3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0DB408-DDED-482A-83C2-0DBD6C206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764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C4899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EC4899"/>
                </a:solidFill>
                <a:latin typeface="Noto Sans SC"/>
                <a:ea typeface="Noto Sans SC"/>
                <a:cs typeface="Noto Sans SC"/>
              </a:rPr>
              <a:t>实现要点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AE7F49-C902-4F56-84FE-04B19231F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24100"/>
            <a:ext cx="314325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4C3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AAB4C3"/>
                </a:solidFill>
                <a:latin typeface="Noto Sans SC"/>
                <a:ea typeface="Noto Sans SC"/>
                <a:cs typeface="Noto Sans SC"/>
              </a:rPr>
              <a:t>每跳先判断 tokenIn 对应 reserve0 还是 reserve1。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AAB4C3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AAB4C3"/>
                </a:solidFill>
                <a:latin typeface="Noto Sans SC"/>
                <a:ea typeface="Noto Sans SC"/>
                <a:cs typeface="Noto Sans SC"/>
              </a:rPr>
              <a:t>任一跳输出为 0，整条路由失效。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AAB4C3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AAB4C3"/>
                </a:solidFill>
                <a:latin typeface="Noto Sans SC"/>
                <a:ea typeface="Noto Sans SC"/>
                <a:cs typeface="Noto Sans SC"/>
              </a:rPr>
              <a:t>评分是项目启发式，不等同于链上执行结果。</a:t>
            </a:r>
          </a:p>
        </p:txBody>
      </p:sp>
    </p:spTree>
    <p:extLst>
      <p:ext uri="{BB962C8B-B14F-4D97-AF65-F5344CB8AC3E}">
        <p14:creationId xmlns:p14="http://schemas.microsoft.com/office/powerpoint/2010/main" val="157614968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039E89-5407-406F-A439-843BDC2B3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F5500F-92A8-4894-A364-C49DCF973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3F4F6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1">
                <a:solidFill>
                  <a:srgbClr val="F3F4F6"/>
                </a:solidFill>
                <a:latin typeface="Noto Sans SC"/>
                <a:ea typeface="Noto Sans SC"/>
                <a:cs typeface="Noto Sans SC"/>
              </a:rPr>
              <a:t>接口与代码导航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C409BE-4C36-4611-B112-9DF41342D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04875"/>
            <a:ext cx="914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6B6D4"/>
                </a:solidFill>
                <a:latin typeface="Roboto Mono"/>
                <a:ea typeface="Roboto Mono"/>
                <a:cs typeface="Roboto Mono"/>
              </a:defRPr>
            </a:pPr>
            <a:r>
              <a:rPr sz="1050" b="0">
                <a:solidFill>
                  <a:srgbClr val="06B6D4"/>
                </a:solidFill>
                <a:latin typeface="Roboto Mono"/>
                <a:ea typeface="Roboto Mono"/>
                <a:cs typeface="Roboto Mono"/>
              </a:rPr>
              <a:t>LESSON 2.3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8DBA8F-4FD3-41E4-B261-127E9F671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000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AB4C3"/>
                </a:solidFill>
                <a:latin typeface="Roboto Mono"/>
                <a:ea typeface="Roboto Mono"/>
                <a:cs typeface="Roboto Mono"/>
              </a:defRPr>
            </a:pPr>
            <a:r>
              <a:rPr sz="1050" b="0">
                <a:solidFill>
                  <a:srgbClr val="AAB4C3"/>
                </a:solidFill>
                <a:latin typeface="Roboto Mono"/>
                <a:ea typeface="Roboto Mono"/>
                <a:cs typeface="Roboto Mono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C48A9A-E325-402B-8AC2-D2EE722D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5219700" cy="447675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172234"/>
          </a:solidFill>
          <a:ln xmlns:a="http://schemas.openxmlformats.org/drawingml/2006/main" w="14288">
            <a:solidFill>
              <a:srgbClr val="33415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BD3A01-0BB0-4181-83F6-15EE49778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466850"/>
            <a:ext cx="5219700" cy="447675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172234"/>
          </a:solidFill>
          <a:ln xmlns:a="http://schemas.openxmlformats.org/drawingml/2006/main" w="14288">
            <a:solidFill>
              <a:srgbClr val="33415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5C9884-D37B-45A3-9642-DC0077CF5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9545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6B6D4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06B6D4"/>
                </a:solidFill>
                <a:latin typeface="Noto Sans SC"/>
                <a:ea typeface="Noto Sans SC"/>
                <a:cs typeface="Noto Sans SC"/>
              </a:rPr>
              <a:t>主要接口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3FEF8C-8BE3-41EE-864B-EA0EC2099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66950"/>
            <a:ext cx="436245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3F4F6"/>
                </a:solidFill>
                <a:latin typeface="Roboto Mono"/>
                <a:ea typeface="Roboto Mono"/>
                <a:cs typeface="Roboto Mono"/>
              </a:defRPr>
            </a:pPr>
            <a:r>
              <a:rPr sz="1350" b="0">
                <a:solidFill>
                  <a:srgbClr val="F3F4F6"/>
                </a:solidFill>
                <a:latin typeface="Roboto Mono"/>
                <a:ea typeface="Roboto Mono"/>
                <a:cs typeface="Roboto Mono"/>
              </a:rPr>
              <a:t>GET  /api/v1/routes/direct</a:t>
            </a:r>
          </a:p>
          <a:p xmlns:a="http://schemas.openxmlformats.org/drawingml/2006/main">
            <a:pPr algn="l">
              <a:defRPr sz="1350" b="0">
                <a:solidFill>
                  <a:srgbClr val="F3F4F6"/>
                </a:solidFill>
                <a:latin typeface="Roboto Mono"/>
                <a:ea typeface="Roboto Mono"/>
                <a:cs typeface="Roboto Mono"/>
              </a:defRPr>
            </a:pPr>
            <a:r>
              <a:rPr sz="1350" b="0">
                <a:solidFill>
                  <a:srgbClr val="F3F4F6"/>
                </a:solidFill>
                <a:latin typeface="Roboto Mono"/>
                <a:ea typeface="Roboto Mono"/>
                <a:cs typeface="Roboto Mono"/>
              </a:rPr>
              <a:t>GET  /api/v1/routes/multi-hop</a:t>
            </a:r>
          </a:p>
          <a:p xmlns:a="http://schemas.openxmlformats.org/drawingml/2006/main">
            <a:pPr algn="l">
              <a:defRPr sz="1350" b="0">
                <a:solidFill>
                  <a:srgbClr val="F3F4F6"/>
                </a:solidFill>
                <a:latin typeface="Roboto Mono"/>
                <a:ea typeface="Roboto Mono"/>
                <a:cs typeface="Roboto Mono"/>
              </a:defRPr>
            </a:pPr>
            <a:r>
              <a:rPr sz="1350" b="0">
                <a:solidFill>
                  <a:srgbClr val="F3F4F6"/>
                </a:solidFill>
                <a:latin typeface="Roboto Mono"/>
                <a:ea typeface="Roboto Mono"/>
                <a:cs typeface="Roboto Mono"/>
              </a:rPr>
              <a:t>POST /api/v1/routes/quote</a:t>
            </a:r>
          </a:p>
          <a:p xmlns:a="http://schemas.openxmlformats.org/drawingml/2006/main">
            <a:pPr algn="l">
              <a:defRPr sz="1350" b="0">
                <a:solidFill>
                  <a:srgbClr val="F3F4F6"/>
                </a:solidFill>
                <a:latin typeface="Roboto Mono"/>
                <a:ea typeface="Roboto Mono"/>
                <a:cs typeface="Roboto Mono"/>
              </a:defRPr>
            </a:pPr>
            <a:r>
              <a:rPr sz="1350" b="0">
                <a:solidFill>
                  <a:srgbClr val="F3F4F6"/>
                </a:solidFill>
                <a:latin typeface="Roboto Mono"/>
                <a:ea typeface="Roboto Mono"/>
                <a:cs typeface="Roboto Mono"/>
              </a:rPr>
              <a:t>GET  /api/v1/routes/scores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183B9E-C2D2-4FE3-9299-BE5E8C7D7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9545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B5CF6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8B5CF6"/>
                </a:solidFill>
                <a:latin typeface="Noto Sans SC"/>
                <a:ea typeface="Noto Sans SC"/>
                <a:cs typeface="Noto Sans SC"/>
              </a:rPr>
              <a:t>主要文件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1DCF19-B753-4596-AFF9-268F23D8C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36245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3F4F6"/>
                </a:solidFill>
                <a:latin typeface="Roboto Mono"/>
                <a:ea typeface="Roboto Mono"/>
                <a:cs typeface="Roboto Mono"/>
              </a:defRPr>
            </a:pPr>
            <a:r>
              <a:rPr sz="1350" b="0">
                <a:solidFill>
                  <a:srgbClr val="F3F4F6"/>
                </a:solidFill>
                <a:latin typeface="Roboto Mono"/>
                <a:ea typeface="Roboto Mono"/>
                <a:cs typeface="Roboto Mono"/>
              </a:rPr>
              <a:t>api/bot.go</a:t>
            </a:r>
          </a:p>
          <a:p xmlns:a="http://schemas.openxmlformats.org/drawingml/2006/main">
            <a:pPr algn="l">
              <a:defRPr sz="1350" b="0">
                <a:solidFill>
                  <a:srgbClr val="F3F4F6"/>
                </a:solidFill>
                <a:latin typeface="Roboto Mono"/>
                <a:ea typeface="Roboto Mono"/>
                <a:cs typeface="Roboto Mono"/>
              </a:defRPr>
            </a:pPr>
            <a:r>
              <a:rPr sz="1350" b="0">
                <a:solidFill>
                  <a:srgbClr val="F3F4F6"/>
                </a:solidFill>
                <a:latin typeface="Roboto Mono"/>
                <a:ea typeface="Roboto Mono"/>
                <a:cs typeface="Roboto Mono"/>
              </a:rPr>
              <a:t>路径查询与数据库访问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F3F4F6"/>
                </a:solidFill>
                <a:latin typeface="Roboto Mono"/>
                <a:ea typeface="Roboto Mono"/>
                <a:cs typeface="Roboto Mono"/>
              </a:defRPr>
            </a:pPr>
            <a:r>
              <a:rPr sz="1350" b="0">
                <a:solidFill>
                  <a:srgbClr val="F3F4F6"/>
                </a:solidFill>
                <a:latin typeface="Roboto Mono"/>
                <a:ea typeface="Roboto Mono"/>
                <a:cs typeface="Roboto Mono"/>
              </a:rPr>
              <a:t>api/routing.go</a:t>
            </a:r>
          </a:p>
          <a:p xmlns:a="http://schemas.openxmlformats.org/drawingml/2006/main">
            <a:pPr algn="l">
              <a:defRPr sz="1350" b="0">
                <a:solidFill>
                  <a:srgbClr val="F3F4F6"/>
                </a:solidFill>
                <a:latin typeface="Roboto Mono"/>
                <a:ea typeface="Roboto Mono"/>
                <a:cs typeface="Roboto Mono"/>
              </a:defRPr>
            </a:pPr>
            <a:r>
              <a:rPr sz="1350" b="0">
                <a:solidFill>
                  <a:srgbClr val="F3F4F6"/>
                </a:solidFill>
                <a:latin typeface="Roboto Mono"/>
                <a:ea typeface="Roboto Mono"/>
                <a:cs typeface="Roboto Mono"/>
              </a:rPr>
              <a:t>模拟、评分、三跳查询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F3F4F6"/>
                </a:solidFill>
                <a:latin typeface="Roboto Mono"/>
                <a:ea typeface="Roboto Mono"/>
                <a:cs typeface="Roboto Mono"/>
              </a:defRPr>
            </a:pPr>
            <a:r>
              <a:rPr sz="1350" b="0">
                <a:solidFill>
                  <a:srgbClr val="F3F4F6"/>
                </a:solidFill>
                <a:latin typeface="Roboto Mono"/>
                <a:ea typeface="Roboto Mono"/>
                <a:cs typeface="Roboto Mono"/>
              </a:rPr>
              <a:t>api/handlers.go</a:t>
            </a:r>
          </a:p>
          <a:p xmlns:a="http://schemas.openxmlformats.org/drawingml/2006/main">
            <a:pPr algn="l">
              <a:defRPr sz="1350" b="0">
                <a:solidFill>
                  <a:srgbClr val="F3F4F6"/>
                </a:solidFill>
                <a:latin typeface="Roboto Mono"/>
                <a:ea typeface="Roboto Mono"/>
                <a:cs typeface="Roboto Mono"/>
              </a:defRPr>
            </a:pPr>
            <a:r>
              <a:rPr sz="1350" b="0">
                <a:solidFill>
                  <a:srgbClr val="F3F4F6"/>
                </a:solidFill>
                <a:latin typeface="Roboto Mono"/>
                <a:ea typeface="Roboto Mono"/>
                <a:cs typeface="Roboto Mono"/>
              </a:rPr>
              <a:t>参数校验与响应组装</a:t>
            </a:r>
          </a:p>
        </p:txBody>
      </p:sp>
    </p:spTree>
    <p:extLst>
      <p:ext uri="{BB962C8B-B14F-4D97-AF65-F5344CB8AC3E}">
        <p14:creationId xmlns:p14="http://schemas.microsoft.com/office/powerpoint/2010/main" val="4754509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E49732-95F0-4037-88CA-B129CFF66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0C469E-C856-4DD4-A7E4-0C93C3B1B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3F4F6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1">
                <a:solidFill>
                  <a:srgbClr val="F3F4F6"/>
                </a:solidFill>
                <a:latin typeface="Noto Sans SC"/>
                <a:ea typeface="Noto Sans SC"/>
                <a:cs typeface="Noto Sans SC"/>
              </a:rPr>
              <a:t>实现检查清单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083774-3891-4351-9F67-3C561F2C2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04875"/>
            <a:ext cx="914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6B6D4"/>
                </a:solidFill>
                <a:latin typeface="Roboto Mono"/>
                <a:ea typeface="Roboto Mono"/>
                <a:cs typeface="Roboto Mono"/>
              </a:defRPr>
            </a:pPr>
            <a:r>
              <a:rPr sz="1050" b="0">
                <a:solidFill>
                  <a:srgbClr val="06B6D4"/>
                </a:solidFill>
                <a:latin typeface="Roboto Mono"/>
                <a:ea typeface="Roboto Mono"/>
                <a:cs typeface="Roboto Mono"/>
              </a:rPr>
              <a:t>LESSON 2.3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FAB9F1-36F6-443E-8D86-0D5EA5980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000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AB4C3"/>
                </a:solidFill>
                <a:latin typeface="Roboto Mono"/>
                <a:ea typeface="Roboto Mono"/>
                <a:cs typeface="Roboto Mono"/>
              </a:defRPr>
            </a:pPr>
            <a:r>
              <a:rPr sz="1050" b="0">
                <a:solidFill>
                  <a:srgbClr val="AAB4C3"/>
                </a:solidFill>
                <a:latin typeface="Roboto Mono"/>
                <a:ea typeface="Roboto Mono"/>
                <a:cs typeface="Roboto Mono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B26100-270B-4CCC-A0A6-FB44D1E0D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859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B6D4"/>
                </a:solidFill>
                <a:latin typeface="Roboto Mono"/>
                <a:ea typeface="Roboto Mono"/>
                <a:cs typeface="Roboto Mono"/>
              </a:defRPr>
            </a:pPr>
            <a:r>
              <a:rPr sz="1125" b="1">
                <a:solidFill>
                  <a:srgbClr val="06B6D4"/>
                </a:solidFill>
                <a:latin typeface="Roboto Mono"/>
                <a:ea typeface="Roboto Mono"/>
                <a:cs typeface="Roboto Mono"/>
              </a:rPr>
              <a:t>TAKEAWAYS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D5CA02-0A81-4820-BFEC-C52439828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6B6D4"/>
                </a:solidFill>
                <a:latin typeface="Roboto Mono"/>
                <a:ea typeface="Roboto Mono"/>
                <a:cs typeface="Roboto Mono"/>
              </a:defRPr>
            </a:pPr>
            <a:r>
              <a:rPr sz="1500" b="1">
                <a:solidFill>
                  <a:srgbClr val="06B6D4"/>
                </a:solidFill>
                <a:latin typeface="Roboto Mono"/>
                <a:ea typeface="Roboto Mono"/>
                <a:cs typeface="Roboto Mon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41B11D-7387-47BD-B369-3E86359D6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0574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3F4F6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F3F4F6"/>
                </a:solidFill>
                <a:latin typeface="Noto Sans SC"/>
                <a:ea typeface="Noto Sans SC"/>
                <a:cs typeface="Noto Sans SC"/>
              </a:rPr>
              <a:t>查询层先用链、活跃状态、流动性阈值剪枝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C33A71-05FC-410A-8C50-3201696FA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71800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8B5CF6"/>
                </a:solidFill>
                <a:latin typeface="Roboto Mono"/>
                <a:ea typeface="Roboto Mono"/>
                <a:cs typeface="Roboto Mono"/>
              </a:defRPr>
            </a:pPr>
            <a:r>
              <a:rPr sz="1500" b="1">
                <a:solidFill>
                  <a:srgbClr val="8B5CF6"/>
                </a:solidFill>
                <a:latin typeface="Roboto Mono"/>
                <a:ea typeface="Roboto Mono"/>
                <a:cs typeface="Roboto Mono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70AE6C-3F69-41C7-BC1B-603E72280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9337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3F4F6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F3F4F6"/>
                </a:solidFill>
                <a:latin typeface="Noto Sans SC"/>
                <a:ea typeface="Noto Sans SC"/>
                <a:cs typeface="Noto Sans SC"/>
              </a:rPr>
              <a:t>应用层逐跳模拟，必须正确处理储备方向与大整数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0E74A2-53EF-4100-AC83-20F177790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C4899"/>
                </a:solidFill>
                <a:latin typeface="Roboto Mono"/>
                <a:ea typeface="Roboto Mono"/>
                <a:cs typeface="Roboto Mono"/>
              </a:defRPr>
            </a:pPr>
            <a:r>
              <a:rPr sz="1500" b="1">
                <a:solidFill>
                  <a:srgbClr val="EC4899"/>
                </a:solidFill>
                <a:latin typeface="Roboto Mono"/>
                <a:ea typeface="Roboto Mono"/>
                <a:cs typeface="Roboto Mono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D3D317-98AD-469D-9864-324CA4017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8100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3F4F6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F3F4F6"/>
                </a:solidFill>
                <a:latin typeface="Noto Sans SC"/>
                <a:ea typeface="Noto Sans SC"/>
                <a:cs typeface="Noto Sans SC"/>
              </a:rPr>
              <a:t>候选路径先验证可报价，再参与评分和排序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679FAC-A20B-459D-9F6F-AFFA20A5F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24400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9E0B"/>
                </a:solidFill>
                <a:latin typeface="Roboto Mono"/>
                <a:ea typeface="Roboto Mono"/>
                <a:cs typeface="Roboto Mono"/>
              </a:defRPr>
            </a:pPr>
            <a:r>
              <a:rPr sz="1500" b="1">
                <a:solidFill>
                  <a:srgbClr val="F59E0B"/>
                </a:solidFill>
                <a:latin typeface="Roboto Mono"/>
                <a:ea typeface="Roboto Mono"/>
                <a:cs typeface="Roboto Mono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6E9402-6173-4734-B879-62F5E68D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6863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3F4F6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F3F4F6"/>
                </a:solidFill>
                <a:latin typeface="Noto Sans SC"/>
                <a:ea typeface="Noto Sans SC"/>
                <a:cs typeface="Noto Sans SC"/>
              </a:rPr>
              <a:t>测试应覆盖无直连池、浅池、零储备、不同交易金额与三跳回退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CC925E-DEF2-4E69-A32F-714D41F5C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960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AB4C3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AAB4C3"/>
                </a:solidFill>
                <a:latin typeface="Noto Sans SC"/>
                <a:ea typeface="Noto Sans SC"/>
                <a:cs typeface="Noto Sans SC"/>
              </a:rPr>
              <a:t>课后实践：用仓库内 API、示例与日志验证本课结论</a:t>
            </a:r>
          </a:p>
        </p:txBody>
      </p:sp>
    </p:spTree>
    <p:extLst>
      <p:ext uri="{BB962C8B-B14F-4D97-AF65-F5344CB8AC3E}">
        <p14:creationId xmlns:p14="http://schemas.microsoft.com/office/powerpoint/2010/main" val="5762467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2026-09-18T06:51:06.4640000Z</dcterms:created>
  <dcterms:modified xsi:type="dcterms:W3CDTF">2026-09-18T06:51:06.4640000Z</dcterms:modified>
</coreProperties>
</file>