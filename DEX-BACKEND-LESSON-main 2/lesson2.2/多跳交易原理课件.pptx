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4cb7f95fb34752" /><Relationship Type="http://schemas.openxmlformats.org/officeDocument/2006/relationships/extended-properties" Target="/docProps/app.xml" Id="R8fc37992ccef4e8c" /><Relationship Type="http://schemas.openxmlformats.org/officeDocument/2006/relationships/officeDocument" Target="/ppt/presentation.xml" Id="Rdf716ef5929e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30668467a447c4"/>
  </p:sldMasterIdLst>
  <p:notesMasterIdLst>
    <p:notesMasterId xmlns:r="http://schemas.openxmlformats.org/officeDocument/2006/relationships" r:id="Rdeac6ef3dc7e46a3"/>
  </p:notesMasterIdLst>
  <p:sldIdLst>
    <p:sldId xmlns:r="http://schemas.openxmlformats.org/officeDocument/2006/relationships" id="256" r:id="R7a658c733c36479a"/>
    <p:sldId xmlns:r="http://schemas.openxmlformats.org/officeDocument/2006/relationships" id="257" r:id="Re2b3f4aabc4f47cc"/>
    <p:sldId xmlns:r="http://schemas.openxmlformats.org/officeDocument/2006/relationships" id="258" r:id="Rc4b3516e5537473f"/>
    <p:sldId xmlns:r="http://schemas.openxmlformats.org/officeDocument/2006/relationships" id="259" r:id="R4474aa535f034b57"/>
    <p:sldId xmlns:r="http://schemas.openxmlformats.org/officeDocument/2006/relationships" id="260" r:id="R2e853b33c0334193"/>
    <p:sldId xmlns:r="http://schemas.openxmlformats.org/officeDocument/2006/relationships" id="261" r:id="R586e69961acf4871"/>
    <p:sldId xmlns:r="http://schemas.openxmlformats.org/officeDocument/2006/relationships" id="262" r:id="Re0207c86d0644722"/>
    <p:sldId xmlns:r="http://schemas.openxmlformats.org/officeDocument/2006/relationships" id="263" r:id="R0860c9b4d06b4a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6fdd05ac4470b" /><Relationship Type="http://schemas.openxmlformats.org/officeDocument/2006/relationships/slideMaster" Target="/ppt/slideMasters/slideMaster1.xml" Id="R7630668467a447c4" /><Relationship Type="http://schemas.openxmlformats.org/officeDocument/2006/relationships/notesMaster" Target="/ppt/notesMasters/notesMaster1.xml" Id="Rdeac6ef3dc7e46a3" /><Relationship Type="http://schemas.openxmlformats.org/officeDocument/2006/relationships/presProps" Target="/ppt/presProps.xml" Id="Rc2c3e37582ad4346" /><Relationship Type="http://schemas.openxmlformats.org/officeDocument/2006/relationships/tableStyles" Target="/ppt/tableStyles.xml" Id="R9a72b8a63bbb4bb9" /><Relationship Type="http://schemas.openxmlformats.org/officeDocument/2006/relationships/slide" Target="/ppt/slides/slide1.xml" Id="R7a658c733c36479a" /><Relationship Type="http://schemas.openxmlformats.org/officeDocument/2006/relationships/slide" Target="/ppt/slides/slide2.xml" Id="Re2b3f4aabc4f47cc" /><Relationship Type="http://schemas.openxmlformats.org/officeDocument/2006/relationships/slide" Target="/ppt/slides/slide3.xml" Id="Rc4b3516e5537473f" /><Relationship Type="http://schemas.openxmlformats.org/officeDocument/2006/relationships/slide" Target="/ppt/slides/slide4.xml" Id="R4474aa535f034b57" /><Relationship Type="http://schemas.openxmlformats.org/officeDocument/2006/relationships/slide" Target="/ppt/slides/slide5.xml" Id="R2e853b33c0334193" /><Relationship Type="http://schemas.openxmlformats.org/officeDocument/2006/relationships/slide" Target="/ppt/slides/slide6.xml" Id="R586e69961acf4871" /><Relationship Type="http://schemas.openxmlformats.org/officeDocument/2006/relationships/slide" Target="/ppt/slides/slide7.xml" Id="Re0207c86d0644722" /><Relationship Type="http://schemas.openxmlformats.org/officeDocument/2006/relationships/slide" Target="/ppt/slides/slide8.xml" Id="R0860c9b4d06b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962d591af41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0cad40b1f243c2" /><Relationship Type="http://schemas.openxmlformats.org/officeDocument/2006/relationships/notesMaster" Target="/ppt/notesMasters/notesMaster1.xml" Id="R76abdd0f2bd74e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3663e8e54e4dd9" /><Relationship Type="http://schemas.openxmlformats.org/officeDocument/2006/relationships/notesMaster" Target="/ppt/notesMasters/notesMaster1.xml" Id="R68bc3d5ef47440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e23dd0b0074dc6" /><Relationship Type="http://schemas.openxmlformats.org/officeDocument/2006/relationships/notesMaster" Target="/ppt/notesMasters/notesMaster1.xml" Id="R80eb6c90ac8b46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56e8808b864930" /><Relationship Type="http://schemas.openxmlformats.org/officeDocument/2006/relationships/notesMaster" Target="/ppt/notesMasters/notesMaster1.xml" Id="R2dbc603366364e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2dcecb7c6a4f12" /><Relationship Type="http://schemas.openxmlformats.org/officeDocument/2006/relationships/notesMaster" Target="/ppt/notesMasters/notesMaster1.xml" Id="R0c5253a93e054a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347ccca89c45fc" /><Relationship Type="http://schemas.openxmlformats.org/officeDocument/2006/relationships/notesMaster" Target="/ppt/notesMasters/notesMaster1.xml" Id="R5753eb97bf2944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9cc12f88442d3" /><Relationship Type="http://schemas.openxmlformats.org/officeDocument/2006/relationships/notesMaster" Target="/ppt/notesMasters/notesMaster1.xml" Id="R1dc7d95a067547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873c3c43cd4953" /><Relationship Type="http://schemas.openxmlformats.org/officeDocument/2006/relationships/notesMaster" Target="/ppt/notesMasters/notesMaster1.xml" Id="R37eaea749cd443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内容依据：lesson2.2/backend/readme.md；api/routing.go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原理来源：lesson2.2/backend/readme.md。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路径示例与项目文档一致。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源码：lesson2.2/backend/api/routing.go。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当前项目用 SQL CTE 实现固定深度搜索。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权重来自 CalculateRouteScore；这些是课程项目中的启发式规则。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项目接口暴露 min_liquidity；amountOutMin 与 deadline 属于执行层延伸。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复习来源：lesson2.2/backend/readme.md；ROUTING_VISUAL_GUIDE.md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b1e1249c940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83716150fc4699" /><Relationship Type="http://schemas.openxmlformats.org/officeDocument/2006/relationships/slideLayout" Target="/ppt/slideLayouts/slideLayout1.xml" Id="R16955f877c7b42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955f877c7b42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e815950b248e2" /><Relationship Type="http://schemas.openxmlformats.org/officeDocument/2006/relationships/notesSlide" Target="/ppt/notesSlides/notesSlide1.xml" Id="R0803b7c6318543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2fe028db54024" /><Relationship Type="http://schemas.openxmlformats.org/officeDocument/2006/relationships/notesSlide" Target="/ppt/notesSlides/notesSlide2.xml" Id="Ra6a7a6d4892d4c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2ddcf150c4b2d" /><Relationship Type="http://schemas.openxmlformats.org/officeDocument/2006/relationships/notesSlide" Target="/ppt/notesSlides/notesSlide3.xml" Id="R583585863edc4e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86b3ddeaa44c4" /><Relationship Type="http://schemas.openxmlformats.org/officeDocument/2006/relationships/notesSlide" Target="/ppt/notesSlides/notesSlide4.xml" Id="R7e9814dd37b445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b043e1e6d4275" /><Relationship Type="http://schemas.openxmlformats.org/officeDocument/2006/relationships/notesSlide" Target="/ppt/notesSlides/notesSlide5.xml" Id="R1197d6ab2ef049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e57ac7e754664" /><Relationship Type="http://schemas.openxmlformats.org/officeDocument/2006/relationships/notesSlide" Target="/ppt/notesSlides/notesSlide6.xml" Id="R24d1d913264f4e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4a7b237274477" /><Relationship Type="http://schemas.openxmlformats.org/officeDocument/2006/relationships/notesSlide" Target="/ppt/notesSlides/notesSlide7.xml" Id="Rcee841fd635743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959ce8e994ca9" /><Relationship Type="http://schemas.openxmlformats.org/officeDocument/2006/relationships/notesSlide" Target="/ppt/notesSlides/notesSlide8.xml" Id="R0b6af1463c384f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D2E0F-BA62-4D81-8788-69A3CCA3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D6645-B020-4AD4-98E7-22E3EF36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0D21F-D5B7-40AC-AA23-8D5BBA9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572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E0E9B-B37F-4AD2-B57D-B416923E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20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LESSON 2.2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2F802-3430-4A13-B5AE-0020432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多跳交易原理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AF0A3-5E4C-497A-AD1A-5E89D54D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路径发现、逐跳报价、评分与滑点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3BE13-1E53-46C5-ACED-C3A7CC97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DEX BACKEND COURSE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DA1E6-8423-43DC-B40D-ECA4A022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19200"/>
            <a:ext cx="114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1"/>
          </a:bodyPr>
          <a:lstStyle xmlns:a="http://schemas.openxmlformats.org/drawingml/2006/main"/>
          <a:p xmlns:a="http://schemas.openxmlformats.org/drawingml/2006/main">
            <a:pPr algn="ctr">
              <a:defRPr sz="5550" b="0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5550" b="0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579F3-43A0-4095-9826-EF38C898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3837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3150" b="1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1980304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B2E64-9812-4A8A-A357-965EA14A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05EA7-F728-4A32-9C8A-9F29A50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为什么需要多跳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BC246-2EDE-47A9-A53A-9D612BFB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F2426-7B66-4AC9-AB90-87C59823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E5588-3B29-4345-9138-55401A69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BCF8F-2EC0-43F6-AB72-33AFCC2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83A04-268E-4687-A423-4AED3D13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478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没有直连池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F2A68-F353-4083-A2CC-B8AC32CB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573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Token A 与 Token C 之间只能经过中间代币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4B690-824A-4F58-AD35-1D3B2433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8DD7-E6CE-464C-9D69-D5F87254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FFE99-57E7-42BB-B4C1-A5D76082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9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直连流动性弱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143F7-25BB-4567-8C1B-98A3425F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绕行深池可能获得更高的最终输出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A249D-19A4-41ED-A066-44290903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5800A-50AA-46A2-83CB-2F9BB285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03CD8-B558-40E8-986A-B14D17B1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费用会叠加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529C2-EFD6-490E-B0B2-0ADBB38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每一跳都扣除手续费，跳数不是越多越好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ECFB7-261F-4804-B022-43712D88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0FD62-7575-47B8-A575-265A4A2A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313DA-336F-40CF-BE81-E918EDF2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金额改变答案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A6E98-0EEB-4E4C-82DD-4049A8E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719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小额与大额交易可能选择不同路径</a:t>
            </a:r>
          </a:p>
        </p:txBody>
      </p:sp>
    </p:spTree>
    <p:extLst>
      <p:ext uri="{BB962C8B-B14F-4D97-AF65-F5344CB8AC3E}">
        <p14:creationId xmlns:p14="http://schemas.microsoft.com/office/powerpoint/2010/main" val="761589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76014-F05C-4226-BA4F-360683F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62457-C0A6-4371-98F3-95C08D30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单跳与两跳路径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BA83A-8654-45B7-9A80-BC57DCA8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3A6DF-60A6-468B-B551-C949A1CD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FBFD2-B6A8-4D84-A616-561F0CE5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A4F9C-FA7E-4575-82C7-0DD753BF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01AF1-A87E-40BF-814F-5A267DB6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单跳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A36D6-3371-4468-AFF9-2C57E85E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WETH  ── Pool A ──  DAI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优点：手续费少、调用简单</a:t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风险：直连池深度不足时滑点更大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6E985-2972-45B5-BB85-05595BDE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两跳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58C4D-7FC8-4917-90D7-3128A250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WETH ─ Pool B ─ USDC</a:t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USDC ─ Pool C ─ DAI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第一跳输出直接成为第二跳输入。</a:t>
            </a:r>
          </a:p>
        </p:txBody>
      </p:sp>
    </p:spTree>
    <p:extLst>
      <p:ext uri="{BB962C8B-B14F-4D97-AF65-F5344CB8AC3E}">
        <p14:creationId xmlns:p14="http://schemas.microsoft.com/office/powerpoint/2010/main" val="2003914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F8C2F-3780-456C-A9B9-FDCF52E4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F8716-F6F1-4F36-875B-61857297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逐跳输出与总手续费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B88B9-2C2D-47CA-A3A9-014B12DD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2D088-4A05-4452-A698-7FD18B0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73C78-3438-47C3-9748-05329EDE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6858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C9108-6793-45BB-82D6-952BD364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38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amountInWithFee = amountIn × (1 - fee)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amountOut =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reserveOut × amountInWithFee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──────────────────────────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reserveIn + amountInWithFee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twoHopFee = 1 - (1-f₁)(1-f₂)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B1F34-C6C4-4B90-ACFF-27258032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逐跳传播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13568-934D-41F1-8377-43925FBA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143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currentAmount 从第一跳开始。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每经过一个池子，CalculateOutputAmount 计算新的 currentAmount。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最后一跳的输出才是路由报价。</a:t>
            </a:r>
          </a:p>
        </p:txBody>
      </p:sp>
    </p:spTree>
    <p:extLst>
      <p:ext uri="{BB962C8B-B14F-4D97-AF65-F5344CB8AC3E}">
        <p14:creationId xmlns:p14="http://schemas.microsoft.com/office/powerpoint/2010/main" val="1631407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C781D-FDD9-424A-B0E3-286BB4F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12F3C-DE56-4C6B-A695-D20569D0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候选路径的生成与筛选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55B9F-FDAD-4C83-9AA1-38A9E88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2A1D9-469B-4C33-910B-EC249087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091EE-2994-4984-874D-A5AA39A2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D9D6C-EF27-40FE-B8D1-E0BAA80E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FF6EF-78C3-4232-A04B-8CFD4CF2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扩展邻居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B67CE-DDA7-4B30-94EC-47771A1E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从 tokenIn 查可达池子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8894-0599-45AA-939B-F112EE7D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44C4A-E59D-4D38-B71B-9353D0C9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9108C-F255-4C25-A7BE-C1F879AF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F39EA-1F1B-495F-9EB9-3640B29E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连接目标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14528-4154-4189-BF5A-36998C34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用中间代币连接 tokenOut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F055C-B2A1-43E6-830B-4F64B17E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0C828-A3AC-4252-9C41-02D78999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1C076-C943-4C24-B032-3AD4DD53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79A4C-CCEF-4B89-8AE7-10DCB14A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提前剪枝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80799-3641-4194-9B86-9ED90883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链、活跃状态、最小流动性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95AB7-977C-4709-911E-782B0090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0D924-972B-464E-AA19-DCF4B14D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A6A9B-CCDF-4C02-A40B-332551AF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56508-1E71-44E2-BDC7-ED90EAAA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限制结果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0DD6F-F273-4B5F-BA9B-B470681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排序后保留少量候选</a:t>
            </a:r>
          </a:p>
        </p:txBody>
      </p:sp>
    </p:spTree>
    <p:extLst>
      <p:ext uri="{BB962C8B-B14F-4D97-AF65-F5344CB8AC3E}">
        <p14:creationId xmlns:p14="http://schemas.microsoft.com/office/powerpoint/2010/main" val="1263166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AD8EE-1FDB-4DC9-A6C5-0DBE6A3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4584E-5037-4935-9817-2AA54FBB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最优路由的评分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77237-980D-42E0-B2F8-17BDA716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A376C-4771-4153-B166-A6488517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2E2B0-FEA4-4F71-887C-FF45B416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525F7-65D4-492A-B890-861C9143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AB018-E910-437F-9528-919B5F77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478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流动性 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ECF9F-3715-4E6E-AAAE-6EF6708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573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使用路径中最小池子流动性作为瓶颈指标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9BAE8-85CB-4E1A-8685-B56153F2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4E8C9-A418-42B6-8748-75F57F32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CFC22-BE7C-4ACD-BCA2-CF46C7F1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9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手续费 30%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25003-C89D-4CE7-97BE-1998522F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总手续费越低，得分越高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0D952-584D-4DB8-9158-BB2376D4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4588B-752A-40AB-A0A9-D845F559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535F4-037E-4B0C-A6B3-B04F6FBB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价格 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A05DF-22A6-42D3-9265-F49E7E40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实际输出与简化理论输出的比例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D079E-2420-40FA-B7A5-ED088199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0B491-567E-4A2B-9D3F-02C82F0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ADFB8-72DF-43E1-8B18-C720B3D7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最终排序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8CF70-D3C9-4904-AB1C-C158D435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719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TotalScore 降序，返回第一名作为 best route</a:t>
            </a:r>
          </a:p>
        </p:txBody>
      </p:sp>
    </p:spTree>
    <p:extLst>
      <p:ext uri="{BB962C8B-B14F-4D97-AF65-F5344CB8AC3E}">
        <p14:creationId xmlns:p14="http://schemas.microsoft.com/office/powerpoint/2010/main" val="1308271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10AAA-B22A-4423-AEE7-88F945D9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1998D-9729-45F4-91E7-D8E71843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滑点与保护参数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BDF48-04F4-48FD-B1B3-DACEAD64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9E998-B4A9-493C-B303-E99570EC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81A71-1CA6-4520-B9A1-737203A0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76F68-4118-4C0F-A711-8785B034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839AC-7845-4286-9DA2-BEF47137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价格影响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20480-3F92-48CF-8F71-11E1FC4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交易金额越接近池子储备规模，边际价格变化越明显。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多跳路径的每一跳都会贡献价格影响。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F5C41-57C4-4BC7-A17A-7D8604A1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工程保护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A7D17-10BB-49FA-81FF-9F3A5E84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min_liquidity：过滤浅池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amountOutMin：执行端限制最少输出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deadline：限制交易有效时间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route cache：设置短过期时间</a:t>
            </a:r>
          </a:p>
        </p:txBody>
      </p:sp>
    </p:spTree>
    <p:extLst>
      <p:ext uri="{BB962C8B-B14F-4D97-AF65-F5344CB8AC3E}">
        <p14:creationId xmlns:p14="http://schemas.microsoft.com/office/powerpoint/2010/main" val="1414278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A0492-2CD9-454B-9D82-7A698230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584CD-668E-445C-A52A-7A506D2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多跳交易的关键结论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A54F2-5420-4FF3-8376-7789F2A8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51506-6448-4D35-9488-23B849D3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4ACD5-87BA-4B01-80AF-AA00341A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3299E-585E-4899-AC79-93CFF0BF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DCD91-742E-4308-A051-6A610A1C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路径发现先解决“能否到达”，逐跳报价再比较“到达后得到多少”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075D1-2592-4737-8339-8F88DDE0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C7323-157E-4301-BA28-F317A88B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33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更多跳数扩大候选空间，同时增加手续费与执行复杂度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80D3D-B2CC-4983-B1A7-3136B27C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56C4B-4F0A-4DD3-B5A0-1B2A5A7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00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流动性阈值和固定深度能有效控制搜索规模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075AF-E4A3-4EF7-804D-DD60B80B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F59E0B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B844B-43E0-41A5-9970-E4665CA1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最优路径依赖交易金额，不能只按池子静态流动性排序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B440F-6D93-40D4-90A4-48FBF59F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课后实践：用仓库内 API、示例与日志验证本课结论</a:t>
            </a:r>
          </a:p>
        </p:txBody>
      </p:sp>
    </p:spTree>
    <p:extLst>
      <p:ext uri="{BB962C8B-B14F-4D97-AF65-F5344CB8AC3E}">
        <p14:creationId xmlns:p14="http://schemas.microsoft.com/office/powerpoint/2010/main" val="666350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2026-09-18T06:51:02.9730000Z</dcterms:created>
  <dcterms:modified xsi:type="dcterms:W3CDTF">2026-09-18T06:51:02.9730000Z</dcterms:modified>
</coreProperties>
</file>