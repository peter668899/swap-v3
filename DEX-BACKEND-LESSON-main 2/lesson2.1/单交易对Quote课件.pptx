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6d9c6733c9498c" /><Relationship Type="http://schemas.openxmlformats.org/officeDocument/2006/relationships/extended-properties" Target="/docProps/app.xml" Id="R3100511b88f34a54" /><Relationship Type="http://schemas.openxmlformats.org/officeDocument/2006/relationships/officeDocument" Target="/ppt/presentation.xml" Id="R0ce7902531e141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12f891f7644b09"/>
  </p:sldMasterIdLst>
  <p:notesMasterIdLst>
    <p:notesMasterId xmlns:r="http://schemas.openxmlformats.org/officeDocument/2006/relationships" r:id="R9f6d79241d864920"/>
  </p:notesMasterIdLst>
  <p:sldIdLst>
    <p:sldId xmlns:r="http://schemas.openxmlformats.org/officeDocument/2006/relationships" id="256" r:id="Rc6a63fbbcc6248a6"/>
    <p:sldId xmlns:r="http://schemas.openxmlformats.org/officeDocument/2006/relationships" id="257" r:id="R5b9913956eb143a3"/>
    <p:sldId xmlns:r="http://schemas.openxmlformats.org/officeDocument/2006/relationships" id="258" r:id="Ra1a55bc675234e07"/>
    <p:sldId xmlns:r="http://schemas.openxmlformats.org/officeDocument/2006/relationships" id="259" r:id="R5ead0d00de02464f"/>
    <p:sldId xmlns:r="http://schemas.openxmlformats.org/officeDocument/2006/relationships" id="260" r:id="R03e21e97d177472a"/>
    <p:sldId xmlns:r="http://schemas.openxmlformats.org/officeDocument/2006/relationships" id="261" r:id="R0d1917006aa74325"/>
    <p:sldId xmlns:r="http://schemas.openxmlformats.org/officeDocument/2006/relationships" id="262" r:id="R5e6bed0b4df94dfc"/>
    <p:sldId xmlns:r="http://schemas.openxmlformats.org/officeDocument/2006/relationships" id="263" r:id="Rc0029be6e21f48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e72063356c4fd8" /><Relationship Type="http://schemas.openxmlformats.org/officeDocument/2006/relationships/slideMaster" Target="/ppt/slideMasters/slideMaster1.xml" Id="Rd212f891f7644b09" /><Relationship Type="http://schemas.openxmlformats.org/officeDocument/2006/relationships/notesMaster" Target="/ppt/notesMasters/notesMaster1.xml" Id="R9f6d79241d864920" /><Relationship Type="http://schemas.openxmlformats.org/officeDocument/2006/relationships/presProps" Target="/ppt/presProps.xml" Id="Rdbbad1b6cfbc4c8d" /><Relationship Type="http://schemas.openxmlformats.org/officeDocument/2006/relationships/tableStyles" Target="/ppt/tableStyles.xml" Id="R6e83c09122b7488e" /><Relationship Type="http://schemas.openxmlformats.org/officeDocument/2006/relationships/slide" Target="/ppt/slides/slide1.xml" Id="Rc6a63fbbcc6248a6" /><Relationship Type="http://schemas.openxmlformats.org/officeDocument/2006/relationships/slide" Target="/ppt/slides/slide2.xml" Id="R5b9913956eb143a3" /><Relationship Type="http://schemas.openxmlformats.org/officeDocument/2006/relationships/slide" Target="/ppt/slides/slide3.xml" Id="Ra1a55bc675234e07" /><Relationship Type="http://schemas.openxmlformats.org/officeDocument/2006/relationships/slide" Target="/ppt/slides/slide4.xml" Id="R5ead0d00de02464f" /><Relationship Type="http://schemas.openxmlformats.org/officeDocument/2006/relationships/slide" Target="/ppt/slides/slide5.xml" Id="R03e21e97d177472a" /><Relationship Type="http://schemas.openxmlformats.org/officeDocument/2006/relationships/slide" Target="/ppt/slides/slide6.xml" Id="R0d1917006aa74325" /><Relationship Type="http://schemas.openxmlformats.org/officeDocument/2006/relationships/slide" Target="/ppt/slides/slide7.xml" Id="R5e6bed0b4df94dfc" /><Relationship Type="http://schemas.openxmlformats.org/officeDocument/2006/relationships/slide" Target="/ppt/slides/slide8.xml" Id="Rc0029be6e21f48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dfd47c55d74d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20e523929043f8" /><Relationship Type="http://schemas.openxmlformats.org/officeDocument/2006/relationships/notesMaster" Target="/ppt/notesMasters/notesMaster1.xml" Id="R316c884cfe5341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1118eede564533" /><Relationship Type="http://schemas.openxmlformats.org/officeDocument/2006/relationships/notesMaster" Target="/ppt/notesMasters/notesMaster1.xml" Id="Rea2b6bd98c3d42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c433acab154dc8" /><Relationship Type="http://schemas.openxmlformats.org/officeDocument/2006/relationships/notesMaster" Target="/ppt/notesMasters/notesMaster1.xml" Id="Re3cbe0b71d544e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11b3699ddb4012" /><Relationship Type="http://schemas.openxmlformats.org/officeDocument/2006/relationships/notesMaster" Target="/ppt/notesMasters/notesMaster1.xml" Id="R546da70b05eb4b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2709c13d914e2a" /><Relationship Type="http://schemas.openxmlformats.org/officeDocument/2006/relationships/notesMaster" Target="/ppt/notesMasters/notesMaster1.xml" Id="R25c83c6162e749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33e78222e34f71" /><Relationship Type="http://schemas.openxmlformats.org/officeDocument/2006/relationships/notesMaster" Target="/ppt/notesMasters/notesMaster1.xml" Id="Ref573e3947ba44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344c94a1a54a92" /><Relationship Type="http://schemas.openxmlformats.org/officeDocument/2006/relationships/notesMaster" Target="/ppt/notesMasters/notesMaster1.xml" Id="R87593d1110d846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d52e0d3c224d84" /><Relationship Type="http://schemas.openxmlformats.org/officeDocument/2006/relationships/notesMaster" Target="/ppt/notesMasters/notesMaster1.xml" Id="R0fae6f28e43a40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内容依据：lesson2.1/backend/api/quote.go；lesson2.1/backend/README.md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本页对应课程 README 的教学目标。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公式与字段来自 lesson2.1/backend/api/quote.go。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GetPoolState 与 TickInfo 对应本页字段。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swapExactInput 的循环结构。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源码：lesson2.1/backend/api/quote.go。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接口说明：lesson2.1/backend/README.md；路由：api/routes.go。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复习来源：lesson2.1/backend/README.md；三个 UniswapV3 补充说明文档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f4709cd5a143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a548728afd4fda" /><Relationship Type="http://schemas.openxmlformats.org/officeDocument/2006/relationships/slideLayout" Target="/ppt/slideLayouts/slideLayout1.xml" Id="R4b7418b92bf64e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7418b92bf64e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d809d66e646c3" /><Relationship Type="http://schemas.openxmlformats.org/officeDocument/2006/relationships/notesSlide" Target="/ppt/notesSlides/notesSlide1.xml" Id="R7971caf3a4c943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211ab7b2d497e" /><Relationship Type="http://schemas.openxmlformats.org/officeDocument/2006/relationships/notesSlide" Target="/ppt/notesSlides/notesSlide2.xml" Id="R1a5cb70ea5ae4c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0796f6fe564308" /><Relationship Type="http://schemas.openxmlformats.org/officeDocument/2006/relationships/notesSlide" Target="/ppt/notesSlides/notesSlide3.xml" Id="Rc3fbcee4c98643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5c311f64e4344" /><Relationship Type="http://schemas.openxmlformats.org/officeDocument/2006/relationships/notesSlide" Target="/ppt/notesSlides/notesSlide4.xml" Id="Re7ea7a79c49149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cc82f1db04d3d" /><Relationship Type="http://schemas.openxmlformats.org/officeDocument/2006/relationships/notesSlide" Target="/ppt/notesSlides/notesSlide5.xml" Id="R1e7318e0b51c4b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96af815204172" /><Relationship Type="http://schemas.openxmlformats.org/officeDocument/2006/relationships/notesSlide" Target="/ppt/notesSlides/notesSlide6.xml" Id="R916fbbf54d8441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580a689154e2b" /><Relationship Type="http://schemas.openxmlformats.org/officeDocument/2006/relationships/notesSlide" Target="/ppt/notesSlides/notesSlide7.xml" Id="R860fe1663a8849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5944a62474ca1" /><Relationship Type="http://schemas.openxmlformats.org/officeDocument/2006/relationships/notesSlide" Target="/ppt/notesSlides/notesSlide8.xml" Id="Rb9b82304005945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C250C7-FD75-49D7-B248-F6EBB5EC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51C90-1A1E-4BF6-9FC8-38294034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16C17-999A-484B-A1B5-04F61604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857250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06B6D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E32F3-B62C-4E01-866A-25B42501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B6D4"/>
                </a:solidFill>
                <a:latin typeface="Roboto Mono"/>
                <a:ea typeface="Roboto Mono"/>
                <a:cs typeface="Roboto Mono"/>
              </a:defRPr>
            </a:pPr>
            <a:r>
              <a:rPr sz="1200" b="1">
                <a:solidFill>
                  <a:srgbClr val="06B6D4"/>
                </a:solidFill>
                <a:latin typeface="Roboto Mono"/>
                <a:ea typeface="Roboto Mono"/>
                <a:cs typeface="Roboto Mono"/>
              </a:rPr>
              <a:t>LESSON 2.1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2C265-E16F-4CD3-BE33-515784BF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34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单交易对 Quote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98915-BA57-41F2-8186-EE8995AE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从 x·y=k 到 Uniswap V3 跨 Tick 报价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4E518-0DBD-4244-AC83-228BAFF5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rPr>
              <a:t>DEX BACKEND COURSE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B8E1D2-8EB0-46B7-8B00-D089E367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19200"/>
            <a:ext cx="114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541"/>
          </a:bodyPr>
          <a:lstStyle xmlns:a="http://schemas.openxmlformats.org/drawingml/2006/main"/>
          <a:p xmlns:a="http://schemas.openxmlformats.org/drawingml/2006/main">
            <a:pPr algn="ctr">
              <a:defRPr sz="5550" b="0">
                <a:solidFill>
                  <a:srgbClr val="06B6D4"/>
                </a:solidFill>
                <a:latin typeface="Noto Sans SC"/>
                <a:ea typeface="Noto Sans SC"/>
                <a:cs typeface="Noto Sans SC"/>
              </a:defRPr>
            </a:pPr>
            <a:r>
              <a:rPr sz="5550" b="0">
                <a:solidFill>
                  <a:srgbClr val="06B6D4"/>
                </a:solidFill>
                <a:latin typeface="Noto Sans SC"/>
                <a:ea typeface="Noto Sans SC"/>
                <a:cs typeface="Noto Sans SC"/>
              </a:rPr>
              <a:t>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A74572-6547-41D3-AA2E-FF7998DB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238375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3150" b="1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2.1</a:t>
            </a:r>
          </a:p>
        </p:txBody>
      </p:sp>
    </p:spTree>
    <p:extLst>
      <p:ext uri="{BB962C8B-B14F-4D97-AF65-F5344CB8AC3E}">
        <p14:creationId xmlns:p14="http://schemas.microsoft.com/office/powerpoint/2010/main" val="4524011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F402B7-5F59-4D18-826D-691863DE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86CC4-3F83-4BDC-AB47-3CCB2BB7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本课学习路径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41AA06-3994-464A-BA54-F93F7EA7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4875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rPr>
              <a:t>LESSON 2.1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317AB3-2749-4B27-85EA-B3C88444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F7429-6ACB-466C-B7AA-FED82A61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B6D4"/>
                </a:solidFill>
                <a:latin typeface="Roboto Mono"/>
                <a:ea typeface="Roboto Mono"/>
                <a:cs typeface="Roboto Mono"/>
              </a:defRPr>
            </a:pPr>
            <a:r>
              <a:rPr sz="1650" b="1">
                <a:solidFill>
                  <a:srgbClr val="06B6D4"/>
                </a:solidFill>
                <a:latin typeface="Roboto Mono"/>
                <a:ea typeface="Roboto Mono"/>
                <a:cs typeface="Roboto Mon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340F39-8B7B-488E-A981-BF8C9FA7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049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994F3B-CD1D-46D9-AC8B-D522C975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4478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建立基线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A82859-D198-495E-A8EF-D7757FC4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5732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理解恒定乘积模型中的储备、手续费、价格影响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29F87-1E84-48CF-9B7E-CEE0239B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4792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B6D4"/>
                </a:solidFill>
                <a:latin typeface="Roboto Mono"/>
                <a:ea typeface="Roboto Mono"/>
                <a:cs typeface="Roboto Mono"/>
              </a:defRPr>
            </a:pPr>
            <a:r>
              <a:rPr sz="1650" b="1">
                <a:solidFill>
                  <a:srgbClr val="06B6D4"/>
                </a:solidFill>
                <a:latin typeface="Roboto Mono"/>
                <a:ea typeface="Roboto Mono"/>
                <a:cs typeface="Roboto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B9006E-34A5-4338-9639-95672746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650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B4D77-BEC9-498C-B853-5281A6D3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193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进入 V3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77B44F-5E89-4C82-A467-D11945D7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2887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认识 sqrtPriceX96、tick、活跃流动性与 tick spacing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D14D43-8B07-418B-982D-F563B2F7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1947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B6D4"/>
                </a:solidFill>
                <a:latin typeface="Roboto Mono"/>
                <a:ea typeface="Roboto Mono"/>
                <a:cs typeface="Roboto Mono"/>
              </a:defRPr>
            </a:pPr>
            <a:r>
              <a:rPr sz="1650" b="1">
                <a:solidFill>
                  <a:srgbClr val="06B6D4"/>
                </a:solidFill>
                <a:latin typeface="Roboto Mono"/>
                <a:ea typeface="Roboto Mono"/>
                <a:cs typeface="Roboto Mon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E3BDED-0D02-4839-883C-7CDC9654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480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F19BAA-D623-4665-9DBE-F13EEE0C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909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拆分交易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FFAF3D-403B-416B-BC54-5EC1721A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0042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把一笔 swap 分解到多个 tick 区间逐段计算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3D5859-B3DC-4FBA-B710-410ABB14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9102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B6D4"/>
                </a:solidFill>
                <a:latin typeface="Roboto Mono"/>
                <a:ea typeface="Roboto Mono"/>
                <a:cs typeface="Roboto Mono"/>
              </a:defRPr>
            </a:pPr>
            <a:r>
              <a:rPr sz="1650" b="1">
                <a:solidFill>
                  <a:srgbClr val="06B6D4"/>
                </a:solidFill>
                <a:latin typeface="Roboto Mono"/>
                <a:ea typeface="Roboto Mono"/>
                <a:cs typeface="Roboto Mono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EDA331-D446-409D-B155-76315878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872576-AFA8-471E-812A-F09E37E5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624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落到代码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D99D5B-2DA0-48D8-A781-DD23DE4A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7197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对应 CalculateQuoteV3、swapExactInput 与 computeSwapStep</a:t>
            </a:r>
          </a:p>
        </p:txBody>
      </p:sp>
    </p:spTree>
    <p:extLst>
      <p:ext uri="{BB962C8B-B14F-4D97-AF65-F5344CB8AC3E}">
        <p14:creationId xmlns:p14="http://schemas.microsoft.com/office/powerpoint/2010/main" val="3492470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0E48B9-AFD0-4DC1-ADF0-365412D9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01F1D-3EC7-4E64-B28F-640DD835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两种报价模型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A2E46-AA7D-4E14-9FD3-00E59683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4875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rPr>
              <a:t>LESSON 2.1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9E078-43A1-4EA9-9A38-5596727D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ADDF84-60B5-4D5D-B92E-E05B27A4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52197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72234"/>
          </a:solidFill>
          <a:ln xmlns:a="http://schemas.openxmlformats.org/drawingml/2006/main" w="14288">
            <a:solidFill>
              <a:srgbClr val="33415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BBDB9-35F7-47D5-9AD6-84A1042C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66850"/>
            <a:ext cx="52197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72234"/>
          </a:solidFill>
          <a:ln xmlns:a="http://schemas.openxmlformats.org/drawingml/2006/main" w="14288">
            <a:solidFill>
              <a:srgbClr val="33415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3273CF-E8E3-44F0-A299-510FB843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954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B6D4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06B6D4"/>
                </a:solidFill>
                <a:latin typeface="Noto Sans SC"/>
                <a:ea typeface="Noto Sans SC"/>
                <a:cs typeface="Noto Sans SC"/>
              </a:rPr>
              <a:t>全价位 AMM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93A4F8-E2F3-4A22-8B3F-8691817D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436245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575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x · y = 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575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Δy = y · Δx' / (x + Δx')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575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Δx' = Δx · (1 - fee)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575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所有流动性覆盖全部价格区间。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955E6E-9C2F-4FCB-9114-44E84C00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集中流动性 V3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EE0EB6-FFAE-4905-BA4A-5E783DEF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36245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575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价格被离散为 tick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575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P(i) = 1.0001^i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575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sqrtPriceX96 = √P · 2^96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575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每个区间使用自己的活跃流动性 L。</a:t>
            </a:r>
          </a:p>
        </p:txBody>
      </p:sp>
    </p:spTree>
    <p:extLst>
      <p:ext uri="{BB962C8B-B14F-4D97-AF65-F5344CB8AC3E}">
        <p14:creationId xmlns:p14="http://schemas.microsoft.com/office/powerpoint/2010/main" val="5319603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E07472-2352-4FD9-A42F-93717643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1417B-54DC-4F11-BF12-35BC609E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报价所需的池子状态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0D49B-5128-4A1C-98D8-66A2CB9C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4875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rPr>
              <a:t>LESSON 2.1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2A5EE-1F28-4E0B-9B03-6C33E790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1FEE93-2E2A-4E99-B589-7AE90646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B5CF6"/>
                </a:solidFill>
                <a:latin typeface="Roboto Mono"/>
                <a:ea typeface="Roboto Mono"/>
                <a:cs typeface="Roboto Mono"/>
              </a:defRPr>
            </a:pPr>
            <a:r>
              <a:rPr sz="1650" b="1">
                <a:solidFill>
                  <a:srgbClr val="8B5CF6"/>
                </a:solidFill>
                <a:latin typeface="Roboto Mono"/>
                <a:ea typeface="Roboto Mono"/>
                <a:cs typeface="Roboto Mon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2F145F-596A-426C-8C00-96583375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049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B1B5B-8570-42C5-B0FE-376BBFD8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4478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价格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9108FE-62A4-4323-AD7D-40DF7FCF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5732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sqrt_price_x96 与当前 tick 决定交易起点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A47584-15A8-4156-B767-06A49BBD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4792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B5CF6"/>
                </a:solidFill>
                <a:latin typeface="Roboto Mono"/>
                <a:ea typeface="Roboto Mono"/>
                <a:cs typeface="Roboto Mono"/>
              </a:defRPr>
            </a:pPr>
            <a:r>
              <a:rPr sz="1650" b="1">
                <a:solidFill>
                  <a:srgbClr val="8B5CF6"/>
                </a:solidFill>
                <a:latin typeface="Roboto Mono"/>
                <a:ea typeface="Roboto Mono"/>
                <a:cs typeface="Roboto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606933-784B-4E6A-A1A8-C8F36469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650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E154D-FABF-4B2F-9601-61A1EEFE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193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流动性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836B96-7129-4F6B-9A6B-E5D0F6A0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2887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liquidity 表示当前价格区间内的活跃流动性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6A729B-6208-4A7A-81D1-D0FECCEA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1947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B5CF6"/>
                </a:solidFill>
                <a:latin typeface="Roboto Mono"/>
                <a:ea typeface="Roboto Mono"/>
                <a:cs typeface="Roboto Mono"/>
              </a:defRPr>
            </a:pPr>
            <a:r>
              <a:rPr sz="1650" b="1">
                <a:solidFill>
                  <a:srgbClr val="8B5CF6"/>
                </a:solidFill>
                <a:latin typeface="Roboto Mono"/>
                <a:ea typeface="Roboto Mono"/>
                <a:cs typeface="Roboto Mon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F029F6-A872-4C16-90BB-987D7E93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480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293E76-DF03-4992-BEA7-31F75DDE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909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A1EC2D-FF2F-49A4-B0CC-494957D3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0042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ticks 表提供 tick_index、liquidity_gross、liquidity_net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20B13C-B3F4-4FDB-B129-6739EF85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91025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B5CF6"/>
                </a:solidFill>
                <a:latin typeface="Roboto Mono"/>
                <a:ea typeface="Roboto Mono"/>
                <a:cs typeface="Roboto Mono"/>
              </a:defRPr>
            </a:pPr>
            <a:r>
              <a:rPr sz="1650" b="1">
                <a:solidFill>
                  <a:srgbClr val="8B5CF6"/>
                </a:solidFill>
                <a:latin typeface="Roboto Mono"/>
                <a:ea typeface="Roboto Mono"/>
                <a:cs typeface="Roboto Mono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ECF54E-828B-4552-94F8-0F5E1B7E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AFFFE5-2B2E-4876-9C20-F6FC7BD7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624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方向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05B9DA-20A7-476A-85A8-4DBF58F7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7197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token0→token1 价格下降；token1→token0 价格上升</a:t>
            </a:r>
          </a:p>
        </p:txBody>
      </p:sp>
    </p:spTree>
    <p:extLst>
      <p:ext uri="{BB962C8B-B14F-4D97-AF65-F5344CB8AC3E}">
        <p14:creationId xmlns:p14="http://schemas.microsoft.com/office/powerpoint/2010/main" val="8613149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D09EB4-AB8D-42AA-89DB-26CC0964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AE0AC-663B-4F43-B1E9-C9E84324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跨 Tick 报价循环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892A4-3FD5-4968-97C7-5A3B14E5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4875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rPr>
              <a:t>LESSON 2.1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085EF5-7EF4-4DCC-8E19-C4185432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7FDC0-2BA3-4B8C-B61F-C38050DA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371725" cy="23812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172234"/>
          </a:solidFill>
          <a:ln xmlns:a="http://schemas.openxmlformats.org/drawingml/2006/main" w="14288">
            <a:solidFill>
              <a:srgbClr val="06B6D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33DCD-E0CB-444B-AC62-21E932E1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028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B6D4"/>
                </a:solidFill>
                <a:latin typeface="Roboto Mono"/>
                <a:ea typeface="Roboto Mono"/>
                <a:cs typeface="Roboto Mono"/>
              </a:defRPr>
            </a:pPr>
            <a:r>
              <a:rPr sz="1350" b="1">
                <a:solidFill>
                  <a:srgbClr val="06B6D4"/>
                </a:solidFill>
                <a:latin typeface="Roboto Mono"/>
                <a:ea typeface="Roboto Mono"/>
                <a:cs typeface="Roboto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7495F-EC18-4D6D-89EC-A1D5BBAD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20288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找边界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9E946-B47D-4EFB-A52A-8EE40E4A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2028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查询下一个已初始化 tick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04480B-4CC4-495B-B97B-2D7802ED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857500"/>
            <a:ext cx="28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921C1F-AA3C-4634-8278-CA692E34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95500"/>
            <a:ext cx="2371725" cy="23812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172234"/>
          </a:solidFill>
          <a:ln xmlns:a="http://schemas.openxmlformats.org/drawingml/2006/main" w="14288">
            <a:solidFill>
              <a:srgbClr val="8B5CF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31648F-37A1-4F9F-8B65-7C130C1B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286000"/>
            <a:ext cx="2028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5CF6"/>
                </a:solidFill>
                <a:latin typeface="Roboto Mono"/>
                <a:ea typeface="Roboto Mono"/>
                <a:cs typeface="Roboto Mono"/>
              </a:defRPr>
            </a:pPr>
            <a:r>
              <a:rPr sz="1350" b="1">
                <a:solidFill>
                  <a:srgbClr val="8B5CF6"/>
                </a:solidFill>
                <a:latin typeface="Roboto Mono"/>
                <a:ea typeface="Roboto Mono"/>
                <a:cs typeface="Roboto Mon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A68477-0C9C-442F-B4D4-F822E8D8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781300"/>
            <a:ext cx="20288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算阈值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FF0A59-7046-4A37-ABB3-D592D791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476625"/>
            <a:ext cx="2028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计算到达目标价格所需输入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03C66E-B624-4CF6-B4FD-DF79C0B7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57500"/>
            <a:ext cx="28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7314BC-DA4F-4D36-899C-623B7B24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2371725" cy="23812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172234"/>
          </a:solidFill>
          <a:ln xmlns:a="http://schemas.openxmlformats.org/drawingml/2006/main" w="14288">
            <a:solidFill>
              <a:srgbClr val="06B6D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5050D4-7986-4D02-BE32-FEEBB734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2028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B6D4"/>
                </a:solidFill>
                <a:latin typeface="Roboto Mono"/>
                <a:ea typeface="Roboto Mono"/>
                <a:cs typeface="Roboto Mono"/>
              </a:defRPr>
            </a:pPr>
            <a:r>
              <a:rPr sz="1350" b="1">
                <a:solidFill>
                  <a:srgbClr val="06B6D4"/>
                </a:solidFill>
                <a:latin typeface="Roboto Mono"/>
                <a:ea typeface="Roboto Mono"/>
                <a:cs typeface="Roboto Mon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ACF728-FAE3-40EB-BEF4-1B47206A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81300"/>
            <a:ext cx="20288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执行一步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22253E-E0FE-4275-8FCA-0A82B7A0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76625"/>
            <a:ext cx="2028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得到 consumed、amountOut、是否跨越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6105A3-8E68-430F-A5B5-519E681E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857500"/>
            <a:ext cx="28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B2A0DD-01D5-4F24-83F5-6CB4B198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095500"/>
            <a:ext cx="2371725" cy="2381250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172234"/>
          </a:solidFill>
          <a:ln xmlns:a="http://schemas.openxmlformats.org/drawingml/2006/main" w="14288">
            <a:solidFill>
              <a:srgbClr val="8B5CF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6458A3-5812-4CC5-A492-84B20329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86000"/>
            <a:ext cx="20288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5CF6"/>
                </a:solidFill>
                <a:latin typeface="Roboto Mono"/>
                <a:ea typeface="Roboto Mono"/>
                <a:cs typeface="Roboto Mono"/>
              </a:defRPr>
            </a:pPr>
            <a:r>
              <a:rPr sz="1350" b="1">
                <a:solidFill>
                  <a:srgbClr val="8B5CF6"/>
                </a:solidFill>
                <a:latin typeface="Roboto Mono"/>
                <a:ea typeface="Roboto Mono"/>
                <a:cs typeface="Roboto Mono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A159F6-53C0-41D7-9EF3-D2CC9D12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81300"/>
            <a:ext cx="20288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更新状态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BCFFCC-A98D-4D76-98C7-9640CA9C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476625"/>
            <a:ext cx="2028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累加输出，跨越时更新 liquidity_net</a:t>
            </a:r>
          </a:p>
        </p:txBody>
      </p:sp>
    </p:spTree>
    <p:extLst>
      <p:ext uri="{BB962C8B-B14F-4D97-AF65-F5344CB8AC3E}">
        <p14:creationId xmlns:p14="http://schemas.microsoft.com/office/powerpoint/2010/main" val="16226648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393ECB-87DC-4695-AF0E-A18A2238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86812-83B1-468D-9325-58CEE649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核心函数映射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53D95-9B46-418E-B340-BC2D92BD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4875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rPr>
              <a:t>LESSON 2.1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85C0A-A27E-42DC-83F3-435E0E68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D8BA0-2E06-4713-9A14-16CD431D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68580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4288">
            <a:solidFill>
              <a:srgbClr val="33415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76B54-4B69-4082-9410-EE34C15E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6381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CalculateQuoteV3(...)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  ├─ GetPoolState(...)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  ├─ fee deduction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  ├─ swapExactInput(...)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  │   ├─ getNextInitializedTick(...)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  │   ├─ computeSwapStep(...)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  │   ├─ getTickInfo(...)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  │   └─ update price / liquidity</a:t>
            </a:r>
          </a:p>
          <a:p xmlns:a="http://schemas.openxmlformats.org/drawingml/2006/main">
            <a:pPr algn="l">
              <a:def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D9E2F0"/>
                </a:solidFill>
                <a:latin typeface="Roboto Mono"/>
                <a:ea typeface="Roboto Mono"/>
                <a:cs typeface="Roboto Mono"/>
              </a:rPr>
              <a:t>  └─ priceImpact + QuoteResult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37895B-A642-4746-B11D-0C0A97B9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764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C4899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EC4899"/>
                </a:solidFill>
                <a:latin typeface="Noto Sans SC"/>
                <a:ea typeface="Noto Sans SC"/>
                <a:cs typeface="Noto Sans SC"/>
              </a:rPr>
              <a:t>阅读顺序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BB771-7B3D-45AA-BCB4-5B43EB3B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24100"/>
            <a:ext cx="314325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先看外层输入输出，再进入 swap 循环。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amountOut 按区间累加；价格逐步更新，不做累加。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跨 tick 后，LP 设置的区间不变，变化的是活跃流动性。</a:t>
            </a:r>
          </a:p>
        </p:txBody>
      </p:sp>
    </p:spTree>
    <p:extLst>
      <p:ext uri="{BB962C8B-B14F-4D97-AF65-F5344CB8AC3E}">
        <p14:creationId xmlns:p14="http://schemas.microsoft.com/office/powerpoint/2010/main" val="543087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273EA5-7998-4C20-AE60-1C31634C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E10BD-52A7-4E78-BB99-A8F8A589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Quote API 与本地验证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04782-7DD5-4662-9CD8-DE505AD0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4875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rPr>
              <a:t>LESSON 2.1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F22D3-7B59-402C-890D-1E9C94C3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F422B0-756A-490B-A275-F70BCA88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52197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72234"/>
          </a:solidFill>
          <a:ln xmlns:a="http://schemas.openxmlformats.org/drawingml/2006/main" w="14288">
            <a:solidFill>
              <a:srgbClr val="33415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69346-086E-465C-8A59-6529E950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66850"/>
            <a:ext cx="52197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172234"/>
          </a:solidFill>
          <a:ln xmlns:a="http://schemas.openxmlformats.org/drawingml/2006/main" w="14288">
            <a:solidFill>
              <a:srgbClr val="33415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945CA-1451-42DF-A34F-D74B8D0E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954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B6D4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06B6D4"/>
                </a:solidFill>
                <a:latin typeface="Noto Sans SC"/>
                <a:ea typeface="Noto Sans SC"/>
                <a:cs typeface="Noto Sans SC"/>
              </a:rPr>
              <a:t>请求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263E7-FEFE-49FE-BEB3-3C3D6510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436245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POST /api/v1/quote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{</a:t>
            </a:r>
          </a:p>
          <a:p xmlns:a="http://schemas.openxmlformats.org/drawingml/2006/main">
            <a:pPr algn="l">
              <a:defRPr sz="1200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  "tokenIn": "0x...",</a:t>
            </a:r>
          </a:p>
          <a:p xmlns:a="http://schemas.openxmlformats.org/drawingml/2006/main">
            <a:pPr algn="l">
              <a:defRPr sz="1200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  "tokenOut": "0x...",</a:t>
            </a:r>
          </a:p>
          <a:p xmlns:a="http://schemas.openxmlformats.org/drawingml/2006/main">
            <a:pPr algn="l">
              <a:defRPr sz="1200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  "amountIn": "1000000000000000000",</a:t>
            </a:r>
          </a:p>
          <a:p xmlns:a="http://schemas.openxmlformats.org/drawingml/2006/main">
            <a:pPr algn="l">
              <a:defRPr sz="1200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  "poolAddress": "0x..."</a:t>
            </a:r>
          </a:p>
          <a:p xmlns:a="http://schemas.openxmlformats.org/drawingml/2006/main">
            <a:pPr algn="l">
              <a:defRPr sz="1200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200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6FBD7B-2F49-44F0-95BA-AD97DCC5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观察结果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A0C88C-1163-48E6-8758-F9261890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36245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amountOut</a:t>
            </a:r>
          </a:p>
          <a:p xmlns:a="http://schemas.openxmlformats.org/drawingml/2006/main">
            <a:pPr algn="l">
              <a:def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priceImpact</a:t>
            </a:r>
          </a:p>
          <a:p xmlns:a="http://schemas.openxmlformats.org/drawingml/2006/main">
            <a:pPr algn="l">
              <a:def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newSqrtPriceX96</a:t>
            </a:r>
          </a:p>
          <a:p xmlns:a="http://schemas.openxmlformats.org/drawingml/2006/main">
            <a:pPr algn="l">
              <a:def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newTick</a:t>
            </a:r>
          </a:p>
          <a:p xmlns:a="http://schemas.openxmlformats.org/drawingml/2006/main">
            <a:pPr algn="l">
              <a:def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crossedTicks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defRPr>
            </a:pPr>
            <a:r>
              <a:rPr sz="1350" b="0">
                <a:solidFill>
                  <a:srgbClr val="F3F4F6"/>
                </a:solidFill>
                <a:latin typeface="Roboto Mono"/>
                <a:ea typeface="Roboto Mono"/>
                <a:cs typeface="Roboto Mono"/>
              </a:rPr>
              <a:t>运行：go run main.go -config ./config.yaml</a:t>
            </a:r>
          </a:p>
        </p:txBody>
      </p:sp>
    </p:spTree>
    <p:extLst>
      <p:ext uri="{BB962C8B-B14F-4D97-AF65-F5344CB8AC3E}">
        <p14:creationId xmlns:p14="http://schemas.microsoft.com/office/powerpoint/2010/main" val="16134185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CF03A1-C831-4340-B35C-DF090DD1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50B27C-AD4C-4A1E-9619-EE7DE6FB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单交易对 Quote 的关键结论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84084-3932-40F1-A7E3-03A8DB00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04875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06B6D4"/>
                </a:solidFill>
                <a:latin typeface="Roboto Mono"/>
                <a:ea typeface="Roboto Mono"/>
                <a:cs typeface="Roboto Mono"/>
              </a:rPr>
              <a:t>LESSON 2.1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929C9-5C7F-4637-B1A8-6B440FFA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00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defRPr>
            </a:pPr>
            <a:r>
              <a:rPr sz="1050" b="0">
                <a:solidFill>
                  <a:srgbClr val="AAB4C3"/>
                </a:solidFill>
                <a:latin typeface="Roboto Mono"/>
                <a:ea typeface="Roboto Mono"/>
                <a:cs typeface="Roboto Mono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03FB5-1BC1-4FB5-A627-0E9B98BD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B6D4"/>
                </a:solidFill>
                <a:latin typeface="Roboto Mono"/>
                <a:ea typeface="Roboto Mono"/>
                <a:cs typeface="Roboto Mono"/>
              </a:defRPr>
            </a:pPr>
            <a:r>
              <a:rPr sz="1125" b="1">
                <a:solidFill>
                  <a:srgbClr val="06B6D4"/>
                </a:solidFill>
                <a:latin typeface="Roboto Mono"/>
                <a:ea typeface="Roboto Mono"/>
                <a:cs typeface="Roboto Mono"/>
              </a:rPr>
              <a:t>TAKEAWAYS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8CEC5-F271-4164-A01A-6C65A7C3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B6D4"/>
                </a:solidFill>
                <a:latin typeface="Roboto Mono"/>
                <a:ea typeface="Roboto Mono"/>
                <a:cs typeface="Roboto Mono"/>
              </a:defRPr>
            </a:pPr>
            <a:r>
              <a:rPr sz="1500" b="1">
                <a:solidFill>
                  <a:srgbClr val="06B6D4"/>
                </a:solidFill>
                <a:latin typeface="Roboto Mono"/>
                <a:ea typeface="Roboto Mono"/>
                <a:cs typeface="Roboto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0BAC7C-F3DC-4CB4-A77C-015B58D3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574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手续费先从输入金额中扣除，再进入报价循环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BB39B-A78B-43AE-950D-9E325930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B5CF6"/>
                </a:solidFill>
                <a:latin typeface="Roboto Mono"/>
                <a:ea typeface="Roboto Mono"/>
                <a:cs typeface="Roboto Mono"/>
              </a:defRPr>
            </a:pPr>
            <a:r>
              <a:rPr sz="1500" b="1">
                <a:solidFill>
                  <a:srgbClr val="8B5CF6"/>
                </a:solidFill>
                <a:latin typeface="Roboto Mono"/>
                <a:ea typeface="Roboto Mono"/>
                <a:cs typeface="Roboto Mon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5F887-12FD-45E7-837F-19999798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337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跨 tick 的条件取决于剩余输入、价格差与当前流动性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97EF8E-560F-420B-908D-EF9010E4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C4899"/>
                </a:solidFill>
                <a:latin typeface="Roboto Mono"/>
                <a:ea typeface="Roboto Mono"/>
                <a:cs typeface="Roboto Mono"/>
              </a:defRPr>
            </a:pPr>
            <a:r>
              <a:rPr sz="1500" b="1">
                <a:solidFill>
                  <a:srgbClr val="EC4899"/>
                </a:solidFill>
                <a:latin typeface="Roboto Mono"/>
                <a:ea typeface="Roboto Mono"/>
                <a:cs typeface="Roboto Mono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D90494-AA0E-492B-8270-503C3338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100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最终输出等于各区间输出之和，最终价格来自最后一步状态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F1CB97-D004-42A3-9C2C-B841BC8A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9E0B"/>
                </a:solidFill>
                <a:latin typeface="Roboto Mono"/>
                <a:ea typeface="Roboto Mono"/>
                <a:cs typeface="Roboto Mono"/>
              </a:defRPr>
            </a:pPr>
            <a:r>
              <a:rPr sz="1500" b="1">
                <a:solidFill>
                  <a:srgbClr val="F59E0B"/>
                </a:solidFill>
                <a:latin typeface="Roboto Mono"/>
                <a:ea typeface="Roboto Mono"/>
                <a:cs typeface="Roboto Mono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100B94-FE7A-435B-AB93-4D9B2E50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863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3F4F6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F3F4F6"/>
                </a:solidFill>
                <a:latin typeface="Noto Sans SC"/>
                <a:ea typeface="Noto Sans SC"/>
                <a:cs typeface="Noto Sans SC"/>
              </a:rPr>
              <a:t>数据库中的池子状态和 tick 数据决定模拟结果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E6547-3A2C-40CD-91E9-C4F0298B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AAB4C3"/>
                </a:solidFill>
                <a:latin typeface="Noto Sans SC"/>
                <a:ea typeface="Noto Sans SC"/>
                <a:cs typeface="Noto Sans SC"/>
              </a:rPr>
              <a:t>课后实践：用仓库内 API、示例与日志验证本课结论</a:t>
            </a:r>
          </a:p>
        </p:txBody>
      </p:sp>
    </p:spTree>
    <p:extLst>
      <p:ext uri="{BB962C8B-B14F-4D97-AF65-F5344CB8AC3E}">
        <p14:creationId xmlns:p14="http://schemas.microsoft.com/office/powerpoint/2010/main" val="18497244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2026-09-18T06:50:59.2670000Z</dcterms:created>
  <dcterms:modified xsi:type="dcterms:W3CDTF">2026-09-18T06:50:59.2670000Z</dcterms:modified>
</coreProperties>
</file>